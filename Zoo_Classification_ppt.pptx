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303" r:id="rId4"/>
    <p:sldId id="308" r:id="rId5"/>
    <p:sldId id="305" r:id="rId6"/>
    <p:sldId id="259" r:id="rId7"/>
    <p:sldId id="307" r:id="rId8"/>
    <p:sldId id="258" r:id="rId9"/>
    <p:sldId id="306" r:id="rId10"/>
    <p:sldId id="260" r:id="rId11"/>
  </p:sldIdLst>
  <p:sldSz cx="18288000" cy="10287000"/>
  <p:notesSz cx="6858000" cy="9144000"/>
  <p:embeddedFontLst>
    <p:embeddedFont>
      <p:font typeface="Archivo Black" panose="020B0604020202020204" charset="0"/>
      <p:regular r:id="rId13"/>
    </p:embeddedFont>
    <p:embeddedFont>
      <p:font typeface="Arimo" panose="020B0604020202020204" charset="0"/>
      <p:regular r:id="rId14"/>
    </p:embeddedFont>
    <p:embeddedFont>
      <p:font typeface="Arimo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265EB7-383E-4F53-AEC9-415A1E103564}" v="10" dt="2026-07-08T10:04:52.2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22" autoAdjust="0"/>
  </p:normalViewPr>
  <p:slideViewPr>
    <p:cSldViewPr>
      <p:cViewPr>
        <p:scale>
          <a:sx n="48" d="100"/>
          <a:sy n="48" d="100"/>
        </p:scale>
        <p:origin x="998" y="1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CHANA PATHEPURAM" userId="dd46982c91f3ab32" providerId="LiveId" clId="{437C396B-65C9-453F-BCC6-7C058E686661}"/>
    <pc:docChg chg="undo custSel addSld delSld modSld">
      <pc:chgData name="ARCHANA PATHEPURAM" userId="dd46982c91f3ab32" providerId="LiveId" clId="{437C396B-65C9-453F-BCC6-7C058E686661}" dt="2026-07-08T10:10:26.020" v="179" actId="1076"/>
      <pc:docMkLst>
        <pc:docMk/>
      </pc:docMkLst>
      <pc:sldChg chg="modSp mod">
        <pc:chgData name="ARCHANA PATHEPURAM" userId="dd46982c91f3ab32" providerId="LiveId" clId="{437C396B-65C9-453F-BCC6-7C058E686661}" dt="2026-07-08T09:41:54.703" v="12" actId="1076"/>
        <pc:sldMkLst>
          <pc:docMk/>
          <pc:sldMk cId="0" sldId="257"/>
        </pc:sldMkLst>
        <pc:spChg chg="mod">
          <ac:chgData name="ARCHANA PATHEPURAM" userId="dd46982c91f3ab32" providerId="LiveId" clId="{437C396B-65C9-453F-BCC6-7C058E686661}" dt="2026-07-08T09:41:46.388" v="11" actId="1076"/>
          <ac:spMkLst>
            <pc:docMk/>
            <pc:sldMk cId="0" sldId="257"/>
            <ac:spMk id="11" creationId="{00C3305A-2FED-9AFA-F923-E0EB83FA4E36}"/>
          </ac:spMkLst>
        </pc:spChg>
        <pc:spChg chg="mod">
          <ac:chgData name="ARCHANA PATHEPURAM" userId="dd46982c91f3ab32" providerId="LiveId" clId="{437C396B-65C9-453F-BCC6-7C058E686661}" dt="2026-07-08T09:41:41.827" v="10" actId="1076"/>
          <ac:spMkLst>
            <pc:docMk/>
            <pc:sldMk cId="0" sldId="257"/>
            <ac:spMk id="13" creationId="{A7F56158-7BA0-3DDD-F721-2A12FAFB1712}"/>
          </ac:spMkLst>
        </pc:spChg>
        <pc:spChg chg="mod">
          <ac:chgData name="ARCHANA PATHEPURAM" userId="dd46982c91f3ab32" providerId="LiveId" clId="{437C396B-65C9-453F-BCC6-7C058E686661}" dt="2026-07-08T09:41:54.703" v="12" actId="1076"/>
          <ac:spMkLst>
            <pc:docMk/>
            <pc:sldMk cId="0" sldId="257"/>
            <ac:spMk id="15" creationId="{2AFC94CC-3097-87CF-4FFB-1FD53D119B8E}"/>
          </ac:spMkLst>
        </pc:spChg>
      </pc:sldChg>
      <pc:sldChg chg="addSp modSp mod">
        <pc:chgData name="ARCHANA PATHEPURAM" userId="dd46982c91f3ab32" providerId="LiveId" clId="{437C396B-65C9-453F-BCC6-7C058E686661}" dt="2026-07-08T10:10:26.020" v="179" actId="1076"/>
        <pc:sldMkLst>
          <pc:docMk/>
          <pc:sldMk cId="1896820894" sldId="306"/>
        </pc:sldMkLst>
        <pc:spChg chg="add mod">
          <ac:chgData name="ARCHANA PATHEPURAM" userId="dd46982c91f3ab32" providerId="LiveId" clId="{437C396B-65C9-453F-BCC6-7C058E686661}" dt="2026-07-08T10:08:03.463" v="176" actId="255"/>
          <ac:spMkLst>
            <pc:docMk/>
            <pc:sldMk cId="1896820894" sldId="306"/>
            <ac:spMk id="4" creationId="{1EA2126F-50AE-9E71-E1B2-99DC91039DB9}"/>
          </ac:spMkLst>
        </pc:spChg>
        <pc:spChg chg="add mod">
          <ac:chgData name="ARCHANA PATHEPURAM" userId="dd46982c91f3ab32" providerId="LiveId" clId="{437C396B-65C9-453F-BCC6-7C058E686661}" dt="2026-07-08T10:08:15.743" v="178" actId="255"/>
          <ac:spMkLst>
            <pc:docMk/>
            <pc:sldMk cId="1896820894" sldId="306"/>
            <ac:spMk id="10" creationId="{00102466-AA23-EAFF-6C98-32EACFE9696A}"/>
          </ac:spMkLst>
        </pc:spChg>
        <pc:picChg chg="add mod">
          <ac:chgData name="ARCHANA PATHEPURAM" userId="dd46982c91f3ab32" providerId="LiveId" clId="{437C396B-65C9-453F-BCC6-7C058E686661}" dt="2026-07-08T10:10:26.020" v="179" actId="1076"/>
          <ac:picMkLst>
            <pc:docMk/>
            <pc:sldMk cId="1896820894" sldId="306"/>
            <ac:picMk id="7" creationId="{BDCA4F1F-0ACC-AF6E-1BE2-1624D38B874A}"/>
          </ac:picMkLst>
        </pc:picChg>
        <pc:picChg chg="add mod">
          <ac:chgData name="ARCHANA PATHEPURAM" userId="dd46982c91f3ab32" providerId="LiveId" clId="{437C396B-65C9-453F-BCC6-7C058E686661}" dt="2026-07-08T10:06:36.385" v="175" actId="14100"/>
          <ac:picMkLst>
            <pc:docMk/>
            <pc:sldMk cId="1896820894" sldId="306"/>
            <ac:picMk id="9" creationId="{BCF739A9-9BDD-12BE-3F09-E9E206B882FB}"/>
          </ac:picMkLst>
        </pc:picChg>
      </pc:sldChg>
      <pc:sldChg chg="addSp delSp modSp mod">
        <pc:chgData name="ARCHANA PATHEPURAM" userId="dd46982c91f3ab32" providerId="LiveId" clId="{437C396B-65C9-453F-BCC6-7C058E686661}" dt="2026-07-08T09:59:25.041" v="124" actId="14100"/>
        <pc:sldMkLst>
          <pc:docMk/>
          <pc:sldMk cId="3469263942" sldId="307"/>
        </pc:sldMkLst>
        <pc:spChg chg="add mod">
          <ac:chgData name="ARCHANA PATHEPURAM" userId="dd46982c91f3ab32" providerId="LiveId" clId="{437C396B-65C9-453F-BCC6-7C058E686661}" dt="2026-07-08T09:53:45.999" v="69" actId="1076"/>
          <ac:spMkLst>
            <pc:docMk/>
            <pc:sldMk cId="3469263942" sldId="307"/>
            <ac:spMk id="5" creationId="{4F4CB6EC-72D7-4F49-54D6-733090BA19E6}"/>
          </ac:spMkLst>
        </pc:spChg>
        <pc:spChg chg="add mod">
          <ac:chgData name="ARCHANA PATHEPURAM" userId="dd46982c91f3ab32" providerId="LiveId" clId="{437C396B-65C9-453F-BCC6-7C058E686661}" dt="2026-07-08T09:53:41.045" v="68" actId="14100"/>
          <ac:spMkLst>
            <pc:docMk/>
            <pc:sldMk cId="3469263942" sldId="307"/>
            <ac:spMk id="8" creationId="{593B6F0E-226B-5B14-1599-5D530F63AEED}"/>
          </ac:spMkLst>
        </pc:spChg>
        <pc:spChg chg="mod">
          <ac:chgData name="ARCHANA PATHEPURAM" userId="dd46982c91f3ab32" providerId="LiveId" clId="{437C396B-65C9-453F-BCC6-7C058E686661}" dt="2026-07-08T09:54:06.947" v="71" actId="1076"/>
          <ac:spMkLst>
            <pc:docMk/>
            <pc:sldMk cId="3469263942" sldId="307"/>
            <ac:spMk id="9" creationId="{DF2F0901-F1C1-EF8C-5666-02DC756AF05D}"/>
          </ac:spMkLst>
        </pc:spChg>
        <pc:spChg chg="add del">
          <ac:chgData name="ARCHANA PATHEPURAM" userId="dd46982c91f3ab32" providerId="LiveId" clId="{437C396B-65C9-453F-BCC6-7C058E686661}" dt="2026-07-08T09:53:04.392" v="62" actId="22"/>
          <ac:spMkLst>
            <pc:docMk/>
            <pc:sldMk cId="3469263942" sldId="307"/>
            <ac:spMk id="11" creationId="{7055856A-8BA0-77C4-EE85-9742F66A87CB}"/>
          </ac:spMkLst>
        </pc:spChg>
        <pc:spChg chg="add mod">
          <ac:chgData name="ARCHANA PATHEPURAM" userId="dd46982c91f3ab32" providerId="LiveId" clId="{437C396B-65C9-453F-BCC6-7C058E686661}" dt="2026-07-08T09:57:14.601" v="95" actId="1076"/>
          <ac:spMkLst>
            <pc:docMk/>
            <pc:sldMk cId="3469263942" sldId="307"/>
            <ac:spMk id="12" creationId="{1FCD7F41-282E-720A-5E9E-34E01CCD9E83}"/>
          </ac:spMkLst>
        </pc:spChg>
        <pc:spChg chg="add mod">
          <ac:chgData name="ARCHANA PATHEPURAM" userId="dd46982c91f3ab32" providerId="LiveId" clId="{437C396B-65C9-453F-BCC6-7C058E686661}" dt="2026-07-08T09:57:09.429" v="94" actId="1076"/>
          <ac:spMkLst>
            <pc:docMk/>
            <pc:sldMk cId="3469263942" sldId="307"/>
            <ac:spMk id="13" creationId="{B88CE860-0DC4-6ED2-947B-423E4A97B560}"/>
          </ac:spMkLst>
        </pc:spChg>
        <pc:spChg chg="del">
          <ac:chgData name="ARCHANA PATHEPURAM" userId="dd46982c91f3ab32" providerId="LiveId" clId="{437C396B-65C9-453F-BCC6-7C058E686661}" dt="2026-07-08T09:50:44.432" v="48" actId="478"/>
          <ac:spMkLst>
            <pc:docMk/>
            <pc:sldMk cId="3469263942" sldId="307"/>
            <ac:spMk id="14" creationId="{DB70D5E9-B06B-D9D1-9690-B24D82522235}"/>
          </ac:spMkLst>
        </pc:spChg>
        <pc:spChg chg="add del">
          <ac:chgData name="ARCHANA PATHEPURAM" userId="dd46982c91f3ab32" providerId="LiveId" clId="{437C396B-65C9-453F-BCC6-7C058E686661}" dt="2026-07-08T09:55:26.930" v="87" actId="478"/>
          <ac:spMkLst>
            <pc:docMk/>
            <pc:sldMk cId="3469263942" sldId="307"/>
            <ac:spMk id="15" creationId="{0CB947C8-FBE4-6566-B75D-BD17FD042C0F}"/>
          </ac:spMkLst>
        </pc:spChg>
        <pc:spChg chg="mod">
          <ac:chgData name="ARCHANA PATHEPURAM" userId="dd46982c91f3ab32" providerId="LiveId" clId="{437C396B-65C9-453F-BCC6-7C058E686661}" dt="2026-07-08T09:54:11.905" v="72" actId="1076"/>
          <ac:spMkLst>
            <pc:docMk/>
            <pc:sldMk cId="3469263942" sldId="307"/>
            <ac:spMk id="16" creationId="{DE87AB1C-E398-4A2A-0CC1-0C100F19AEFA}"/>
          </ac:spMkLst>
        </pc:spChg>
        <pc:spChg chg="mod">
          <ac:chgData name="ARCHANA PATHEPURAM" userId="dd46982c91f3ab32" providerId="LiveId" clId="{437C396B-65C9-453F-BCC6-7C058E686661}" dt="2026-07-08T09:59:25.041" v="124" actId="14100"/>
          <ac:spMkLst>
            <pc:docMk/>
            <pc:sldMk cId="3469263942" sldId="307"/>
            <ac:spMk id="17" creationId="{995CECDD-B130-F51F-B72F-4B525CD5BCFC}"/>
          </ac:spMkLst>
        </pc:spChg>
        <pc:spChg chg="del">
          <ac:chgData name="ARCHANA PATHEPURAM" userId="dd46982c91f3ab32" providerId="LiveId" clId="{437C396B-65C9-453F-BCC6-7C058E686661}" dt="2026-07-08T09:50:48.778" v="49" actId="478"/>
          <ac:spMkLst>
            <pc:docMk/>
            <pc:sldMk cId="3469263942" sldId="307"/>
            <ac:spMk id="18" creationId="{25B1FAFB-07D2-6316-24B2-E994318E4428}"/>
          </ac:spMkLst>
        </pc:spChg>
        <pc:spChg chg="add del mod">
          <ac:chgData name="ARCHANA PATHEPURAM" userId="dd46982c91f3ab32" providerId="LiveId" clId="{437C396B-65C9-453F-BCC6-7C058E686661}" dt="2026-07-08T09:56:04.125" v="93" actId="11529"/>
          <ac:spMkLst>
            <pc:docMk/>
            <pc:sldMk cId="3469263942" sldId="307"/>
            <ac:spMk id="19" creationId="{B4A5D5C3-C718-7EAA-8859-5F9E1762372E}"/>
          </ac:spMkLst>
        </pc:spChg>
        <pc:spChg chg="add mod">
          <ac:chgData name="ARCHANA PATHEPURAM" userId="dd46982c91f3ab32" providerId="LiveId" clId="{437C396B-65C9-453F-BCC6-7C058E686661}" dt="2026-07-08T09:57:31.729" v="97" actId="207"/>
          <ac:spMkLst>
            <pc:docMk/>
            <pc:sldMk cId="3469263942" sldId="307"/>
            <ac:spMk id="20" creationId="{43591FAF-24FB-A54E-DE19-C3BB66AFBCFA}"/>
          </ac:spMkLst>
        </pc:spChg>
        <pc:spChg chg="add mod">
          <ac:chgData name="ARCHANA PATHEPURAM" userId="dd46982c91f3ab32" providerId="LiveId" clId="{437C396B-65C9-453F-BCC6-7C058E686661}" dt="2026-07-08T09:59:03.899" v="122" actId="1076"/>
          <ac:spMkLst>
            <pc:docMk/>
            <pc:sldMk cId="3469263942" sldId="307"/>
            <ac:spMk id="21" creationId="{71B4D2ED-9382-3144-5BAA-D7D5518B6FE0}"/>
          </ac:spMkLst>
        </pc:spChg>
        <pc:graphicFrameChg chg="add mod modGraphic">
          <ac:chgData name="ARCHANA PATHEPURAM" userId="dd46982c91f3ab32" providerId="LiveId" clId="{437C396B-65C9-453F-BCC6-7C058E686661}" dt="2026-07-08T09:58:27.735" v="118" actId="1076"/>
          <ac:graphicFrameMkLst>
            <pc:docMk/>
            <pc:sldMk cId="3469263942" sldId="307"/>
            <ac:graphicFrameMk id="3" creationId="{7001EE2D-0B11-16D0-88EC-7A63985B7637}"/>
          </ac:graphicFrameMkLst>
        </pc:graphicFrameChg>
        <pc:picChg chg="del">
          <ac:chgData name="ARCHANA PATHEPURAM" userId="dd46982c91f3ab32" providerId="LiveId" clId="{437C396B-65C9-453F-BCC6-7C058E686661}" dt="2026-07-08T09:44:30.108" v="17" actId="478"/>
          <ac:picMkLst>
            <pc:docMk/>
            <pc:sldMk cId="3469263942" sldId="307"/>
            <ac:picMk id="7" creationId="{3B0AE261-3DA0-10C1-2972-350BEFBA0F9F}"/>
          </ac:picMkLst>
        </pc:picChg>
      </pc:sldChg>
      <pc:sldChg chg="addSp delSp new del mod">
        <pc:chgData name="ARCHANA PATHEPURAM" userId="dd46982c91f3ab32" providerId="LiveId" clId="{437C396B-65C9-453F-BCC6-7C058E686661}" dt="2026-07-08T09:43:22.143" v="16" actId="2696"/>
        <pc:sldMkLst>
          <pc:docMk/>
          <pc:sldMk cId="3973188133" sldId="309"/>
        </pc:sldMkLst>
        <pc:spChg chg="add del">
          <ac:chgData name="ARCHANA PATHEPURAM" userId="dd46982c91f3ab32" providerId="LiveId" clId="{437C396B-65C9-453F-BCC6-7C058E686661}" dt="2026-07-08T09:43:13.801" v="15" actId="22"/>
          <ac:spMkLst>
            <pc:docMk/>
            <pc:sldMk cId="3973188133" sldId="309"/>
            <ac:spMk id="3" creationId="{337E8077-6BAB-51CD-F4E4-20B5FDF7D0A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AAE9B4-E9E5-4387-B67E-D5D9832C977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22738A-D5FA-4374-ACA7-50DA8206B11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3200" b="1" dirty="0"/>
            <a:t>Steps:</a:t>
          </a:r>
          <a:endParaRPr lang="en-US" sz="3200" dirty="0"/>
        </a:p>
      </dgm:t>
    </dgm:pt>
    <dgm:pt modelId="{F392AF2C-D866-4B28-A4A8-A00C7DC190CE}" type="parTrans" cxnId="{428199D0-50BF-468B-8A9D-0728A844C7C5}">
      <dgm:prSet/>
      <dgm:spPr/>
      <dgm:t>
        <a:bodyPr/>
        <a:lstStyle/>
        <a:p>
          <a:endParaRPr lang="en-US"/>
        </a:p>
      </dgm:t>
    </dgm:pt>
    <dgm:pt modelId="{B3FD86CF-AB49-432F-A0F7-332BBA94C856}" type="sibTrans" cxnId="{428199D0-50BF-468B-8A9D-0728A844C7C5}">
      <dgm:prSet/>
      <dgm:spPr/>
      <dgm:t>
        <a:bodyPr/>
        <a:lstStyle/>
        <a:p>
          <a:endParaRPr lang="en-US"/>
        </a:p>
      </dgm:t>
    </dgm:pt>
    <dgm:pt modelId="{AE598EDD-A92C-400D-91C8-3A8D393A789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000" dirty="0"/>
            <a:t>Checked the dataset for missing values and inconsistencies. </a:t>
          </a:r>
          <a:endParaRPr lang="en-US" sz="2000" dirty="0"/>
        </a:p>
      </dgm:t>
    </dgm:pt>
    <dgm:pt modelId="{CF6CED78-9E7F-4F06-B83E-B208140E98A0}" type="parTrans" cxnId="{F84EE2B1-612A-4505-9BDA-76D7EC57922B}">
      <dgm:prSet/>
      <dgm:spPr/>
      <dgm:t>
        <a:bodyPr/>
        <a:lstStyle/>
        <a:p>
          <a:endParaRPr lang="en-US"/>
        </a:p>
      </dgm:t>
    </dgm:pt>
    <dgm:pt modelId="{C28F6233-4FB8-4583-8F9F-82D137295841}" type="sibTrans" cxnId="{F84EE2B1-612A-4505-9BDA-76D7EC57922B}">
      <dgm:prSet/>
      <dgm:spPr/>
      <dgm:t>
        <a:bodyPr/>
        <a:lstStyle/>
        <a:p>
          <a:endParaRPr lang="en-US"/>
        </a:p>
      </dgm:t>
    </dgm:pt>
    <dgm:pt modelId="{81AA558A-7DC5-438A-94D7-ADEB6FB1B0B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000" dirty="0"/>
            <a:t>Removed the </a:t>
          </a:r>
          <a:r>
            <a:rPr lang="en-IN" sz="2000" b="1" dirty="0" err="1"/>
            <a:t>animal_name</a:t>
          </a:r>
          <a:r>
            <a:rPr lang="en-IN" sz="2000" dirty="0"/>
            <a:t> column as it is not required for classification. </a:t>
          </a:r>
          <a:endParaRPr lang="en-US" sz="2000" dirty="0"/>
        </a:p>
      </dgm:t>
    </dgm:pt>
    <dgm:pt modelId="{758ED167-9654-45CF-B255-03365C0E7DF6}" type="parTrans" cxnId="{47FC90C3-FC52-47C8-B191-B8260C563824}">
      <dgm:prSet/>
      <dgm:spPr/>
      <dgm:t>
        <a:bodyPr/>
        <a:lstStyle/>
        <a:p>
          <a:endParaRPr lang="en-US"/>
        </a:p>
      </dgm:t>
    </dgm:pt>
    <dgm:pt modelId="{09822C08-37D4-4F70-8E08-C6D19DA54BE1}" type="sibTrans" cxnId="{47FC90C3-FC52-47C8-B191-B8260C563824}">
      <dgm:prSet/>
      <dgm:spPr/>
      <dgm:t>
        <a:bodyPr/>
        <a:lstStyle/>
        <a:p>
          <a:endParaRPr lang="en-US"/>
        </a:p>
      </dgm:t>
    </dgm:pt>
    <dgm:pt modelId="{C8E2EA93-2270-4F1B-BDCB-51ED431389C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000" dirty="0"/>
            <a:t>Selected relevant features for analysis. </a:t>
          </a:r>
          <a:endParaRPr lang="en-US" sz="2000" dirty="0"/>
        </a:p>
      </dgm:t>
    </dgm:pt>
    <dgm:pt modelId="{BFAA5E64-74AC-42A7-9BF2-58ED3C13338C}" type="parTrans" cxnId="{1D35E161-0311-4599-A56E-F6D6692A209E}">
      <dgm:prSet/>
      <dgm:spPr/>
      <dgm:t>
        <a:bodyPr/>
        <a:lstStyle/>
        <a:p>
          <a:endParaRPr lang="en-US"/>
        </a:p>
      </dgm:t>
    </dgm:pt>
    <dgm:pt modelId="{0126E808-4E29-4FF4-897F-7FF8F4199E30}" type="sibTrans" cxnId="{1D35E161-0311-4599-A56E-F6D6692A209E}">
      <dgm:prSet/>
      <dgm:spPr/>
      <dgm:t>
        <a:bodyPr/>
        <a:lstStyle/>
        <a:p>
          <a:endParaRPr lang="en-US"/>
        </a:p>
      </dgm:t>
    </dgm:pt>
    <dgm:pt modelId="{22E0B0DA-4779-4D8B-8FC9-5AF0275FE55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000" dirty="0"/>
            <a:t>Split the dataset into </a:t>
          </a:r>
          <a:r>
            <a:rPr lang="en-IN" sz="2000" b="1" dirty="0"/>
            <a:t>training</a:t>
          </a:r>
          <a:r>
            <a:rPr lang="en-IN" sz="2000" dirty="0"/>
            <a:t> and </a:t>
          </a:r>
          <a:r>
            <a:rPr lang="en-IN" sz="2000" b="1" dirty="0"/>
            <a:t>testing</a:t>
          </a:r>
          <a:r>
            <a:rPr lang="en-IN" sz="2000" dirty="0"/>
            <a:t> sets. </a:t>
          </a:r>
          <a:endParaRPr lang="en-US" sz="2000" dirty="0"/>
        </a:p>
      </dgm:t>
    </dgm:pt>
    <dgm:pt modelId="{CC356E50-76DB-4676-8FAE-F73B204BD5C1}" type="parTrans" cxnId="{6AAD7955-6718-4CC8-8C8F-F9116D42F308}">
      <dgm:prSet/>
      <dgm:spPr/>
      <dgm:t>
        <a:bodyPr/>
        <a:lstStyle/>
        <a:p>
          <a:endParaRPr lang="en-US"/>
        </a:p>
      </dgm:t>
    </dgm:pt>
    <dgm:pt modelId="{F899BF70-B293-40FB-9ABA-7B68240700EC}" type="sibTrans" cxnId="{6AAD7955-6718-4CC8-8C8F-F9116D42F308}">
      <dgm:prSet/>
      <dgm:spPr/>
      <dgm:t>
        <a:bodyPr/>
        <a:lstStyle/>
        <a:p>
          <a:endParaRPr lang="en-US"/>
        </a:p>
      </dgm:t>
    </dgm:pt>
    <dgm:pt modelId="{972A4981-DE63-4139-BB7A-5FB223537FC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000" dirty="0"/>
            <a:t>Prepared the data for the machine learning model.</a:t>
          </a:r>
          <a:endParaRPr lang="en-US" sz="2000" dirty="0"/>
        </a:p>
      </dgm:t>
    </dgm:pt>
    <dgm:pt modelId="{C1AFAA29-CB9C-4635-94A8-0A1B63E464A3}" type="parTrans" cxnId="{04C26F89-4705-4C21-9698-F125EB4C3748}">
      <dgm:prSet/>
      <dgm:spPr/>
      <dgm:t>
        <a:bodyPr/>
        <a:lstStyle/>
        <a:p>
          <a:endParaRPr lang="en-US"/>
        </a:p>
      </dgm:t>
    </dgm:pt>
    <dgm:pt modelId="{EBDAA63B-8322-4EC9-AD55-5FAE5CE043CB}" type="sibTrans" cxnId="{04C26F89-4705-4C21-9698-F125EB4C3748}">
      <dgm:prSet/>
      <dgm:spPr/>
      <dgm:t>
        <a:bodyPr/>
        <a:lstStyle/>
        <a:p>
          <a:endParaRPr lang="en-US"/>
        </a:p>
      </dgm:t>
    </dgm:pt>
    <dgm:pt modelId="{0DE55C72-643F-47FC-AD37-718D5CD4D7F4}" type="pres">
      <dgm:prSet presAssocID="{34AAE9B4-E9E5-4387-B67E-D5D9832C977D}" presName="diagram" presStyleCnt="0">
        <dgm:presLayoutVars>
          <dgm:dir/>
          <dgm:resizeHandles val="exact"/>
        </dgm:presLayoutVars>
      </dgm:prSet>
      <dgm:spPr/>
    </dgm:pt>
    <dgm:pt modelId="{C0A126FD-8791-4E6A-AD56-9AD70F7D8403}" type="pres">
      <dgm:prSet presAssocID="{1922738A-D5FA-4374-ACA7-50DA8206B114}" presName="node" presStyleLbl="node1" presStyleIdx="0" presStyleCnt="6">
        <dgm:presLayoutVars>
          <dgm:bulletEnabled val="1"/>
        </dgm:presLayoutVars>
      </dgm:prSet>
      <dgm:spPr/>
    </dgm:pt>
    <dgm:pt modelId="{86CA6E34-28EB-4948-BA49-67819C259060}" type="pres">
      <dgm:prSet presAssocID="{B3FD86CF-AB49-432F-A0F7-332BBA94C856}" presName="sibTrans" presStyleCnt="0"/>
      <dgm:spPr/>
    </dgm:pt>
    <dgm:pt modelId="{3A920A0C-D3B7-4D88-8130-F35E1E5472AC}" type="pres">
      <dgm:prSet presAssocID="{AE598EDD-A92C-400D-91C8-3A8D393A789E}" presName="node" presStyleLbl="node1" presStyleIdx="1" presStyleCnt="6">
        <dgm:presLayoutVars>
          <dgm:bulletEnabled val="1"/>
        </dgm:presLayoutVars>
      </dgm:prSet>
      <dgm:spPr/>
    </dgm:pt>
    <dgm:pt modelId="{7B601C16-44DD-4DB5-A63C-7B6883232BDF}" type="pres">
      <dgm:prSet presAssocID="{C28F6233-4FB8-4583-8F9F-82D137295841}" presName="sibTrans" presStyleCnt="0"/>
      <dgm:spPr/>
    </dgm:pt>
    <dgm:pt modelId="{0FC2B08B-7F23-4B1F-A899-6EFB329E1E6B}" type="pres">
      <dgm:prSet presAssocID="{81AA558A-7DC5-438A-94D7-ADEB6FB1B0B3}" presName="node" presStyleLbl="node1" presStyleIdx="2" presStyleCnt="6">
        <dgm:presLayoutVars>
          <dgm:bulletEnabled val="1"/>
        </dgm:presLayoutVars>
      </dgm:prSet>
      <dgm:spPr/>
    </dgm:pt>
    <dgm:pt modelId="{0B3D328A-CC97-47FE-908A-834516830A8A}" type="pres">
      <dgm:prSet presAssocID="{09822C08-37D4-4F70-8E08-C6D19DA54BE1}" presName="sibTrans" presStyleCnt="0"/>
      <dgm:spPr/>
    </dgm:pt>
    <dgm:pt modelId="{2C5FB158-AE97-4F78-B5A9-4390787D37BA}" type="pres">
      <dgm:prSet presAssocID="{C8E2EA93-2270-4F1B-BDCB-51ED431389CC}" presName="node" presStyleLbl="node1" presStyleIdx="3" presStyleCnt="6">
        <dgm:presLayoutVars>
          <dgm:bulletEnabled val="1"/>
        </dgm:presLayoutVars>
      </dgm:prSet>
      <dgm:spPr/>
    </dgm:pt>
    <dgm:pt modelId="{CC29D5BB-C7B4-4814-905C-E01C76F255BD}" type="pres">
      <dgm:prSet presAssocID="{0126E808-4E29-4FF4-897F-7FF8F4199E30}" presName="sibTrans" presStyleCnt="0"/>
      <dgm:spPr/>
    </dgm:pt>
    <dgm:pt modelId="{BED36BE4-05A4-4795-9BD9-CE450C8F8A50}" type="pres">
      <dgm:prSet presAssocID="{22E0B0DA-4779-4D8B-8FC9-5AF0275FE55C}" presName="node" presStyleLbl="node1" presStyleIdx="4" presStyleCnt="6">
        <dgm:presLayoutVars>
          <dgm:bulletEnabled val="1"/>
        </dgm:presLayoutVars>
      </dgm:prSet>
      <dgm:spPr/>
    </dgm:pt>
    <dgm:pt modelId="{DDB1B601-38D4-407E-982E-CE3152EC3F76}" type="pres">
      <dgm:prSet presAssocID="{F899BF70-B293-40FB-9ABA-7B68240700EC}" presName="sibTrans" presStyleCnt="0"/>
      <dgm:spPr/>
    </dgm:pt>
    <dgm:pt modelId="{D5C34054-6B0F-4083-B4F3-8CF093948CD0}" type="pres">
      <dgm:prSet presAssocID="{972A4981-DE63-4139-BB7A-5FB223537FCF}" presName="node" presStyleLbl="node1" presStyleIdx="5" presStyleCnt="6">
        <dgm:presLayoutVars>
          <dgm:bulletEnabled val="1"/>
        </dgm:presLayoutVars>
      </dgm:prSet>
      <dgm:spPr/>
    </dgm:pt>
  </dgm:ptLst>
  <dgm:cxnLst>
    <dgm:cxn modelId="{C68E5810-FD7C-4B59-9849-6E8EB2AE5816}" type="presOf" srcId="{81AA558A-7DC5-438A-94D7-ADEB6FB1B0B3}" destId="{0FC2B08B-7F23-4B1F-A899-6EFB329E1E6B}" srcOrd="0" destOrd="0" presId="urn:microsoft.com/office/officeart/2005/8/layout/default"/>
    <dgm:cxn modelId="{ED761A5D-139A-4B79-A85C-7FFAE9B59E36}" type="presOf" srcId="{AE598EDD-A92C-400D-91C8-3A8D393A789E}" destId="{3A920A0C-D3B7-4D88-8130-F35E1E5472AC}" srcOrd="0" destOrd="0" presId="urn:microsoft.com/office/officeart/2005/8/layout/default"/>
    <dgm:cxn modelId="{1D35E161-0311-4599-A56E-F6D6692A209E}" srcId="{34AAE9B4-E9E5-4387-B67E-D5D9832C977D}" destId="{C8E2EA93-2270-4F1B-BDCB-51ED431389CC}" srcOrd="3" destOrd="0" parTransId="{BFAA5E64-74AC-42A7-9BF2-58ED3C13338C}" sibTransId="{0126E808-4E29-4FF4-897F-7FF8F4199E30}"/>
    <dgm:cxn modelId="{03C0C754-4756-474E-BA36-F70997F8F381}" type="presOf" srcId="{22E0B0DA-4779-4D8B-8FC9-5AF0275FE55C}" destId="{BED36BE4-05A4-4795-9BD9-CE450C8F8A50}" srcOrd="0" destOrd="0" presId="urn:microsoft.com/office/officeart/2005/8/layout/default"/>
    <dgm:cxn modelId="{6AAD7955-6718-4CC8-8C8F-F9116D42F308}" srcId="{34AAE9B4-E9E5-4387-B67E-D5D9832C977D}" destId="{22E0B0DA-4779-4D8B-8FC9-5AF0275FE55C}" srcOrd="4" destOrd="0" parTransId="{CC356E50-76DB-4676-8FAE-F73B204BD5C1}" sibTransId="{F899BF70-B293-40FB-9ABA-7B68240700EC}"/>
    <dgm:cxn modelId="{1334147A-C89B-4C0E-AC84-9FD15BD1452D}" type="presOf" srcId="{1922738A-D5FA-4374-ACA7-50DA8206B114}" destId="{C0A126FD-8791-4E6A-AD56-9AD70F7D8403}" srcOrd="0" destOrd="0" presId="urn:microsoft.com/office/officeart/2005/8/layout/default"/>
    <dgm:cxn modelId="{4CA1BD86-96DB-493A-9CDB-CBC4BE717282}" type="presOf" srcId="{972A4981-DE63-4139-BB7A-5FB223537FCF}" destId="{D5C34054-6B0F-4083-B4F3-8CF093948CD0}" srcOrd="0" destOrd="0" presId="urn:microsoft.com/office/officeart/2005/8/layout/default"/>
    <dgm:cxn modelId="{04C26F89-4705-4C21-9698-F125EB4C3748}" srcId="{34AAE9B4-E9E5-4387-B67E-D5D9832C977D}" destId="{972A4981-DE63-4139-BB7A-5FB223537FCF}" srcOrd="5" destOrd="0" parTransId="{C1AFAA29-CB9C-4635-94A8-0A1B63E464A3}" sibTransId="{EBDAA63B-8322-4EC9-AD55-5FAE5CE043CB}"/>
    <dgm:cxn modelId="{F84EE2B1-612A-4505-9BDA-76D7EC57922B}" srcId="{34AAE9B4-E9E5-4387-B67E-D5D9832C977D}" destId="{AE598EDD-A92C-400D-91C8-3A8D393A789E}" srcOrd="1" destOrd="0" parTransId="{CF6CED78-9E7F-4F06-B83E-B208140E98A0}" sibTransId="{C28F6233-4FB8-4583-8F9F-82D137295841}"/>
    <dgm:cxn modelId="{7B982DC3-1D27-441A-BCF7-0C560F02AD92}" type="presOf" srcId="{C8E2EA93-2270-4F1B-BDCB-51ED431389CC}" destId="{2C5FB158-AE97-4F78-B5A9-4390787D37BA}" srcOrd="0" destOrd="0" presId="urn:microsoft.com/office/officeart/2005/8/layout/default"/>
    <dgm:cxn modelId="{47FC90C3-FC52-47C8-B191-B8260C563824}" srcId="{34AAE9B4-E9E5-4387-B67E-D5D9832C977D}" destId="{81AA558A-7DC5-438A-94D7-ADEB6FB1B0B3}" srcOrd="2" destOrd="0" parTransId="{758ED167-9654-45CF-B255-03365C0E7DF6}" sibTransId="{09822C08-37D4-4F70-8E08-C6D19DA54BE1}"/>
    <dgm:cxn modelId="{CC39D0CD-C56B-41C2-8EB6-1838D12201AC}" type="presOf" srcId="{34AAE9B4-E9E5-4387-B67E-D5D9832C977D}" destId="{0DE55C72-643F-47FC-AD37-718D5CD4D7F4}" srcOrd="0" destOrd="0" presId="urn:microsoft.com/office/officeart/2005/8/layout/default"/>
    <dgm:cxn modelId="{428199D0-50BF-468B-8A9D-0728A844C7C5}" srcId="{34AAE9B4-E9E5-4387-B67E-D5D9832C977D}" destId="{1922738A-D5FA-4374-ACA7-50DA8206B114}" srcOrd="0" destOrd="0" parTransId="{F392AF2C-D866-4B28-A4A8-A00C7DC190CE}" sibTransId="{B3FD86CF-AB49-432F-A0F7-332BBA94C856}"/>
    <dgm:cxn modelId="{FBF89B46-FAD0-4EDB-BB18-67AC9D0E90B9}" type="presParOf" srcId="{0DE55C72-643F-47FC-AD37-718D5CD4D7F4}" destId="{C0A126FD-8791-4E6A-AD56-9AD70F7D8403}" srcOrd="0" destOrd="0" presId="urn:microsoft.com/office/officeart/2005/8/layout/default"/>
    <dgm:cxn modelId="{8BF0F59E-C0A1-4655-A840-E8924873611C}" type="presParOf" srcId="{0DE55C72-643F-47FC-AD37-718D5CD4D7F4}" destId="{86CA6E34-28EB-4948-BA49-67819C259060}" srcOrd="1" destOrd="0" presId="urn:microsoft.com/office/officeart/2005/8/layout/default"/>
    <dgm:cxn modelId="{CF7862A1-490B-4707-A37B-1765E4C58D9F}" type="presParOf" srcId="{0DE55C72-643F-47FC-AD37-718D5CD4D7F4}" destId="{3A920A0C-D3B7-4D88-8130-F35E1E5472AC}" srcOrd="2" destOrd="0" presId="urn:microsoft.com/office/officeart/2005/8/layout/default"/>
    <dgm:cxn modelId="{6B6651A7-B3A3-42E4-8537-732AE3B6A0B0}" type="presParOf" srcId="{0DE55C72-643F-47FC-AD37-718D5CD4D7F4}" destId="{7B601C16-44DD-4DB5-A63C-7B6883232BDF}" srcOrd="3" destOrd="0" presId="urn:microsoft.com/office/officeart/2005/8/layout/default"/>
    <dgm:cxn modelId="{2BF2AFBC-2600-4826-9DAC-E1262F69038C}" type="presParOf" srcId="{0DE55C72-643F-47FC-AD37-718D5CD4D7F4}" destId="{0FC2B08B-7F23-4B1F-A899-6EFB329E1E6B}" srcOrd="4" destOrd="0" presId="urn:microsoft.com/office/officeart/2005/8/layout/default"/>
    <dgm:cxn modelId="{5700C620-1C55-47E6-A48E-D50AEBAE0562}" type="presParOf" srcId="{0DE55C72-643F-47FC-AD37-718D5CD4D7F4}" destId="{0B3D328A-CC97-47FE-908A-834516830A8A}" srcOrd="5" destOrd="0" presId="urn:microsoft.com/office/officeart/2005/8/layout/default"/>
    <dgm:cxn modelId="{E6E744AC-9D0C-40BF-B765-1155C185B9DE}" type="presParOf" srcId="{0DE55C72-643F-47FC-AD37-718D5CD4D7F4}" destId="{2C5FB158-AE97-4F78-B5A9-4390787D37BA}" srcOrd="6" destOrd="0" presId="urn:microsoft.com/office/officeart/2005/8/layout/default"/>
    <dgm:cxn modelId="{C9F7CECE-D691-40D9-A4AD-F6BC354CAD86}" type="presParOf" srcId="{0DE55C72-643F-47FC-AD37-718D5CD4D7F4}" destId="{CC29D5BB-C7B4-4814-905C-E01C76F255BD}" srcOrd="7" destOrd="0" presId="urn:microsoft.com/office/officeart/2005/8/layout/default"/>
    <dgm:cxn modelId="{C1A66A0E-3830-487C-9FAE-FD7DADEB74A3}" type="presParOf" srcId="{0DE55C72-643F-47FC-AD37-718D5CD4D7F4}" destId="{BED36BE4-05A4-4795-9BD9-CE450C8F8A50}" srcOrd="8" destOrd="0" presId="urn:microsoft.com/office/officeart/2005/8/layout/default"/>
    <dgm:cxn modelId="{0205D4BF-AEF8-4761-B219-81611DA2BCBE}" type="presParOf" srcId="{0DE55C72-643F-47FC-AD37-718D5CD4D7F4}" destId="{DDB1B601-38D4-407E-982E-CE3152EC3F76}" srcOrd="9" destOrd="0" presId="urn:microsoft.com/office/officeart/2005/8/layout/default"/>
    <dgm:cxn modelId="{347036DC-6AAC-494A-A825-FB2B840B362B}" type="presParOf" srcId="{0DE55C72-643F-47FC-AD37-718D5CD4D7F4}" destId="{D5C34054-6B0F-4083-B4F3-8CF093948CD0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A126FD-8791-4E6A-AD56-9AD70F7D8403}">
      <dsp:nvSpPr>
        <dsp:cNvPr id="0" name=""/>
        <dsp:cNvSpPr/>
      </dsp:nvSpPr>
      <dsp:spPr>
        <a:xfrm>
          <a:off x="1776" y="700031"/>
          <a:ext cx="2238561" cy="13431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/>
            <a:t>Steps:</a:t>
          </a:r>
          <a:endParaRPr lang="en-US" sz="3200" kern="1200" dirty="0"/>
        </a:p>
      </dsp:txBody>
      <dsp:txXfrm>
        <a:off x="1776" y="700031"/>
        <a:ext cx="2238561" cy="1343136"/>
      </dsp:txXfrm>
    </dsp:sp>
    <dsp:sp modelId="{3A920A0C-D3B7-4D88-8130-F35E1E5472AC}">
      <dsp:nvSpPr>
        <dsp:cNvPr id="0" name=""/>
        <dsp:cNvSpPr/>
      </dsp:nvSpPr>
      <dsp:spPr>
        <a:xfrm>
          <a:off x="2464193" y="700031"/>
          <a:ext cx="2238561" cy="13431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Checked the dataset for missing values and inconsistencies. </a:t>
          </a:r>
          <a:endParaRPr lang="en-US" sz="2000" kern="1200" dirty="0"/>
        </a:p>
      </dsp:txBody>
      <dsp:txXfrm>
        <a:off x="2464193" y="700031"/>
        <a:ext cx="2238561" cy="1343136"/>
      </dsp:txXfrm>
    </dsp:sp>
    <dsp:sp modelId="{0FC2B08B-7F23-4B1F-A899-6EFB329E1E6B}">
      <dsp:nvSpPr>
        <dsp:cNvPr id="0" name=""/>
        <dsp:cNvSpPr/>
      </dsp:nvSpPr>
      <dsp:spPr>
        <a:xfrm>
          <a:off x="4926610" y="700031"/>
          <a:ext cx="2238561" cy="13431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Removed the </a:t>
          </a:r>
          <a:r>
            <a:rPr lang="en-IN" sz="2000" b="1" kern="1200" dirty="0" err="1"/>
            <a:t>animal_name</a:t>
          </a:r>
          <a:r>
            <a:rPr lang="en-IN" sz="2000" kern="1200" dirty="0"/>
            <a:t> column as it is not required for classification. </a:t>
          </a:r>
          <a:endParaRPr lang="en-US" sz="2000" kern="1200" dirty="0"/>
        </a:p>
      </dsp:txBody>
      <dsp:txXfrm>
        <a:off x="4926610" y="700031"/>
        <a:ext cx="2238561" cy="1343136"/>
      </dsp:txXfrm>
    </dsp:sp>
    <dsp:sp modelId="{2C5FB158-AE97-4F78-B5A9-4390787D37BA}">
      <dsp:nvSpPr>
        <dsp:cNvPr id="0" name=""/>
        <dsp:cNvSpPr/>
      </dsp:nvSpPr>
      <dsp:spPr>
        <a:xfrm>
          <a:off x="7389028" y="700031"/>
          <a:ext cx="2238561" cy="13431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Selected relevant features for analysis. </a:t>
          </a:r>
          <a:endParaRPr lang="en-US" sz="2000" kern="1200" dirty="0"/>
        </a:p>
      </dsp:txBody>
      <dsp:txXfrm>
        <a:off x="7389028" y="700031"/>
        <a:ext cx="2238561" cy="1343136"/>
      </dsp:txXfrm>
    </dsp:sp>
    <dsp:sp modelId="{BED36BE4-05A4-4795-9BD9-CE450C8F8A50}">
      <dsp:nvSpPr>
        <dsp:cNvPr id="0" name=""/>
        <dsp:cNvSpPr/>
      </dsp:nvSpPr>
      <dsp:spPr>
        <a:xfrm>
          <a:off x="9851445" y="700031"/>
          <a:ext cx="2238561" cy="13431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Split the dataset into </a:t>
          </a:r>
          <a:r>
            <a:rPr lang="en-IN" sz="2000" b="1" kern="1200" dirty="0"/>
            <a:t>training</a:t>
          </a:r>
          <a:r>
            <a:rPr lang="en-IN" sz="2000" kern="1200" dirty="0"/>
            <a:t> and </a:t>
          </a:r>
          <a:r>
            <a:rPr lang="en-IN" sz="2000" b="1" kern="1200" dirty="0"/>
            <a:t>testing</a:t>
          </a:r>
          <a:r>
            <a:rPr lang="en-IN" sz="2000" kern="1200" dirty="0"/>
            <a:t> sets. </a:t>
          </a:r>
          <a:endParaRPr lang="en-US" sz="2000" kern="1200" dirty="0"/>
        </a:p>
      </dsp:txBody>
      <dsp:txXfrm>
        <a:off x="9851445" y="700031"/>
        <a:ext cx="2238561" cy="1343136"/>
      </dsp:txXfrm>
    </dsp:sp>
    <dsp:sp modelId="{D5C34054-6B0F-4083-B4F3-8CF093948CD0}">
      <dsp:nvSpPr>
        <dsp:cNvPr id="0" name=""/>
        <dsp:cNvSpPr/>
      </dsp:nvSpPr>
      <dsp:spPr>
        <a:xfrm>
          <a:off x="12313862" y="700031"/>
          <a:ext cx="2238561" cy="13431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Prepared the data for the machine learning model.</a:t>
          </a:r>
          <a:endParaRPr lang="en-US" sz="2000" kern="1200" dirty="0"/>
        </a:p>
      </dsp:txBody>
      <dsp:txXfrm>
        <a:off x="12313862" y="700031"/>
        <a:ext cx="2238561" cy="13431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B7C17-7EA9-7B73-6A5F-757D337CC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5254B8-2A96-B8C3-8B03-2364D69855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480A7-1679-6415-A2E2-94B0EF5FB4F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25C7702-CDD9-D0C2-FBFF-F02F5DCEE8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3AA8C85-C027-9AFC-CBB6-5447FC54FB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E5BC7-C0D0-AC6B-9033-3A412B97220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D2FA5-A9CC-EE4D-67E4-40C7318AD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20138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AFA06-D6DC-5181-9831-ADC2B8E7F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84BDC8-12AB-78FF-BE9F-4F558EDC3EE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79FAF8-08BD-30A3-25AD-7C10A5B858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9AC44AF-CBFF-2CC5-D733-852C437023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D1AD714-A138-5E5E-1F57-EF79B8D6D4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6D7CB-8CE7-805D-8260-F8BABAFD68D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06A47-0AE9-D3A0-652C-B5B220976B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21842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D3F1D-3250-4111-B37D-827D6DF4B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37692B-60B2-C557-CA88-E9FCF018B0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A34A90-4DB6-33E1-672C-55B3056BCFA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BA2B1E7-A87D-DC42-DAF1-6CEE56A5E5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C44A485-3F16-B6C7-B4AC-DE233E223C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A5F70-FBC6-3AA3-C5B6-96AF50B2AB7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7E739-27B4-3190-C3EE-708B633316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74831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47133-BCC7-8E13-75F6-90A1A32EA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42A1776-3FC3-5B76-7B9B-674DF62369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5CBEAC-3572-CC7B-650F-5DA6006E9DA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9015B88-E91A-3DE8-7646-4D12F3518F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BF99734-98A5-84EE-9720-600FE87A0F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50995-CF3F-0AB4-2D13-CF4030B0EC6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9CCC6-8970-0723-8677-AB5621C43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9002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90E1D-4850-60B2-7A60-571A788B7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1A6125-C950-34DC-E94A-DD1C8143CB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A3A599-3F6F-08E6-FB72-FD4DB90A3CB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AE66A71-1655-C5E9-5D49-774495D6A2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85BA999-E9E4-0684-0E3D-864EFEE491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B0459-C7FB-CB90-EF60-7DAAA6D3533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86CD8-948E-FCDC-D967-C70A90F8B7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59674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sv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hyperlink" Target="https://zooanimalprediction-jhuarat499zeyrmz8uxfdj.streamlit.app/" TargetMode="Externa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28400" y="1566650"/>
            <a:ext cx="8859600" cy="8734200"/>
            <a:chOff x="0" y="0"/>
            <a:chExt cx="11812800" cy="1164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12778" cy="11645646"/>
            </a:xfrm>
            <a:custGeom>
              <a:avLst/>
              <a:gdLst/>
              <a:ahLst/>
              <a:cxnLst/>
              <a:rect l="l" t="t" r="r" b="b"/>
              <a:pathLst>
                <a:path w="11812778" h="11645646">
                  <a:moveTo>
                    <a:pt x="11812778" y="11645646"/>
                  </a:moveTo>
                  <a:lnTo>
                    <a:pt x="11812778" y="0"/>
                  </a:lnTo>
                  <a:lnTo>
                    <a:pt x="0" y="11645646"/>
                  </a:lnTo>
                  <a:close/>
                </a:path>
              </a:pathLst>
            </a:custGeom>
            <a:solidFill>
              <a:srgbClr val="09224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 rot="-2700000">
            <a:off x="15350242" y="2606826"/>
            <a:ext cx="1992344" cy="229952"/>
            <a:chOff x="0" y="0"/>
            <a:chExt cx="2656459" cy="3066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56459" cy="306578"/>
            </a:xfrm>
            <a:custGeom>
              <a:avLst/>
              <a:gdLst/>
              <a:ahLst/>
              <a:cxnLst/>
              <a:rect l="l" t="t" r="r" b="b"/>
              <a:pathLst>
                <a:path w="2656459" h="306578">
                  <a:moveTo>
                    <a:pt x="0" y="153289"/>
                  </a:moveTo>
                  <a:cubicBezTo>
                    <a:pt x="0" y="68580"/>
                    <a:pt x="68580" y="0"/>
                    <a:pt x="153289" y="0"/>
                  </a:cubicBezTo>
                  <a:lnTo>
                    <a:pt x="2503170" y="0"/>
                  </a:lnTo>
                  <a:cubicBezTo>
                    <a:pt x="2587879" y="0"/>
                    <a:pt x="2656459" y="68580"/>
                    <a:pt x="2656459" y="153289"/>
                  </a:cubicBezTo>
                  <a:cubicBezTo>
                    <a:pt x="2656459" y="237998"/>
                    <a:pt x="2587879" y="306578"/>
                    <a:pt x="2503170" y="306578"/>
                  </a:cubicBezTo>
                  <a:lnTo>
                    <a:pt x="153289" y="306578"/>
                  </a:lnTo>
                  <a:cubicBezTo>
                    <a:pt x="68580" y="306578"/>
                    <a:pt x="0" y="237998"/>
                    <a:pt x="0" y="153289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16637" y="2433456"/>
            <a:ext cx="9220831" cy="2710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320"/>
              </a:lnSpc>
            </a:pPr>
            <a:r>
              <a:rPr lang="en-IN" sz="8800" b="1" dirty="0"/>
              <a:t>Zoo Animal Classification</a:t>
            </a:r>
            <a:endParaRPr lang="en-US" sz="8800" b="1" dirty="0">
              <a:solidFill>
                <a:srgbClr val="09224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16637" y="5471024"/>
            <a:ext cx="7811763" cy="5677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16"/>
              </a:lnSpc>
            </a:pPr>
            <a:r>
              <a:rPr lang="en-IN" sz="4400" dirty="0"/>
              <a:t>Using Machine Learning</a:t>
            </a:r>
            <a:endParaRPr lang="en-US" sz="4400" dirty="0">
              <a:solidFill>
                <a:srgbClr val="09224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8" name="Group 8"/>
          <p:cNvGrpSpPr/>
          <p:nvPr/>
        </p:nvGrpSpPr>
        <p:grpSpPr>
          <a:xfrm rot="-2699590">
            <a:off x="9969018" y="6550406"/>
            <a:ext cx="3560000" cy="653366"/>
            <a:chOff x="0" y="0"/>
            <a:chExt cx="4746667" cy="87115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46752" cy="871220"/>
            </a:xfrm>
            <a:custGeom>
              <a:avLst/>
              <a:gdLst/>
              <a:ahLst/>
              <a:cxnLst/>
              <a:rect l="l" t="t" r="r" b="b"/>
              <a:pathLst>
                <a:path w="4746752" h="871220">
                  <a:moveTo>
                    <a:pt x="0" y="435610"/>
                  </a:moveTo>
                  <a:cubicBezTo>
                    <a:pt x="0" y="195072"/>
                    <a:pt x="195072" y="0"/>
                    <a:pt x="435610" y="0"/>
                  </a:cubicBezTo>
                  <a:lnTo>
                    <a:pt x="4311142" y="0"/>
                  </a:lnTo>
                  <a:cubicBezTo>
                    <a:pt x="4551680" y="0"/>
                    <a:pt x="4746752" y="195072"/>
                    <a:pt x="4746752" y="435610"/>
                  </a:cubicBezTo>
                  <a:cubicBezTo>
                    <a:pt x="4746752" y="676148"/>
                    <a:pt x="4551680" y="871220"/>
                    <a:pt x="4311142" y="871220"/>
                  </a:cubicBezTo>
                  <a:lnTo>
                    <a:pt x="435610" y="871220"/>
                  </a:lnTo>
                  <a:cubicBezTo>
                    <a:pt x="195072" y="871093"/>
                    <a:pt x="0" y="676148"/>
                    <a:pt x="0" y="435610"/>
                  </a:cubicBezTo>
                  <a:close/>
                </a:path>
              </a:pathLst>
            </a:custGeom>
            <a:solidFill>
              <a:srgbClr val="6194E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 rot="-2699590">
            <a:off x="14216578" y="4185302"/>
            <a:ext cx="3560000" cy="653366"/>
            <a:chOff x="0" y="0"/>
            <a:chExt cx="4746667" cy="8711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746752" cy="871220"/>
            </a:xfrm>
            <a:custGeom>
              <a:avLst/>
              <a:gdLst/>
              <a:ahLst/>
              <a:cxnLst/>
              <a:rect l="l" t="t" r="r" b="b"/>
              <a:pathLst>
                <a:path w="4746752" h="871220">
                  <a:moveTo>
                    <a:pt x="0" y="435610"/>
                  </a:moveTo>
                  <a:cubicBezTo>
                    <a:pt x="0" y="195072"/>
                    <a:pt x="195072" y="0"/>
                    <a:pt x="435610" y="0"/>
                  </a:cubicBezTo>
                  <a:lnTo>
                    <a:pt x="4311142" y="0"/>
                  </a:lnTo>
                  <a:cubicBezTo>
                    <a:pt x="4551680" y="0"/>
                    <a:pt x="4746752" y="195072"/>
                    <a:pt x="4746752" y="435610"/>
                  </a:cubicBezTo>
                  <a:cubicBezTo>
                    <a:pt x="4746752" y="676148"/>
                    <a:pt x="4551680" y="871220"/>
                    <a:pt x="4311142" y="871220"/>
                  </a:cubicBezTo>
                  <a:lnTo>
                    <a:pt x="435610" y="871220"/>
                  </a:lnTo>
                  <a:cubicBezTo>
                    <a:pt x="195072" y="871093"/>
                    <a:pt x="0" y="676148"/>
                    <a:pt x="0" y="435610"/>
                  </a:cubicBezTo>
                  <a:close/>
                </a:path>
              </a:pathLst>
            </a:custGeom>
            <a:solidFill>
              <a:srgbClr val="6194E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 rot="-2699590">
            <a:off x="13585432" y="2486010"/>
            <a:ext cx="3560000" cy="955442"/>
            <a:chOff x="0" y="0"/>
            <a:chExt cx="4746667" cy="127392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746625" cy="1273810"/>
            </a:xfrm>
            <a:custGeom>
              <a:avLst/>
              <a:gdLst/>
              <a:ahLst/>
              <a:cxnLst/>
              <a:rect l="l" t="t" r="r" b="b"/>
              <a:pathLst>
                <a:path w="4746625" h="1273810">
                  <a:moveTo>
                    <a:pt x="0" y="636905"/>
                  </a:moveTo>
                  <a:cubicBezTo>
                    <a:pt x="0" y="285115"/>
                    <a:pt x="285115" y="0"/>
                    <a:pt x="636905" y="0"/>
                  </a:cubicBezTo>
                  <a:lnTo>
                    <a:pt x="4109720" y="0"/>
                  </a:lnTo>
                  <a:cubicBezTo>
                    <a:pt x="4461510" y="0"/>
                    <a:pt x="4746625" y="285115"/>
                    <a:pt x="4746625" y="636905"/>
                  </a:cubicBezTo>
                  <a:cubicBezTo>
                    <a:pt x="4746625" y="988695"/>
                    <a:pt x="4461510" y="1273810"/>
                    <a:pt x="4109720" y="1273810"/>
                  </a:cubicBezTo>
                  <a:lnTo>
                    <a:pt x="636905" y="1273810"/>
                  </a:lnTo>
                  <a:cubicBezTo>
                    <a:pt x="285115" y="1273937"/>
                    <a:pt x="0" y="988695"/>
                    <a:pt x="0" y="636905"/>
                  </a:cubicBezTo>
                  <a:close/>
                </a:path>
              </a:pathLst>
            </a:custGeom>
            <a:solidFill>
              <a:srgbClr val="B7B7B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 rot="-2699590">
            <a:off x="10254970" y="7698920"/>
            <a:ext cx="3560000" cy="955442"/>
            <a:chOff x="0" y="0"/>
            <a:chExt cx="4746667" cy="127392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746625" cy="1273810"/>
            </a:xfrm>
            <a:custGeom>
              <a:avLst/>
              <a:gdLst/>
              <a:ahLst/>
              <a:cxnLst/>
              <a:rect l="l" t="t" r="r" b="b"/>
              <a:pathLst>
                <a:path w="4746625" h="1273810">
                  <a:moveTo>
                    <a:pt x="0" y="636905"/>
                  </a:moveTo>
                  <a:cubicBezTo>
                    <a:pt x="0" y="285115"/>
                    <a:pt x="285115" y="0"/>
                    <a:pt x="636905" y="0"/>
                  </a:cubicBezTo>
                  <a:lnTo>
                    <a:pt x="4109720" y="0"/>
                  </a:lnTo>
                  <a:cubicBezTo>
                    <a:pt x="4461510" y="0"/>
                    <a:pt x="4746625" y="285115"/>
                    <a:pt x="4746625" y="636905"/>
                  </a:cubicBezTo>
                  <a:cubicBezTo>
                    <a:pt x="4746625" y="988695"/>
                    <a:pt x="4461510" y="1273810"/>
                    <a:pt x="4109720" y="1273810"/>
                  </a:cubicBezTo>
                  <a:lnTo>
                    <a:pt x="636905" y="1273810"/>
                  </a:lnTo>
                  <a:cubicBezTo>
                    <a:pt x="285115" y="1273937"/>
                    <a:pt x="0" y="988695"/>
                    <a:pt x="0" y="636905"/>
                  </a:cubicBezTo>
                  <a:close/>
                </a:path>
              </a:pathLst>
            </a:custGeom>
            <a:solidFill>
              <a:srgbClr val="B7B7B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Freeform 16"/>
          <p:cNvSpPr/>
          <p:nvPr/>
        </p:nvSpPr>
        <p:spPr>
          <a:xfrm>
            <a:off x="5339408" y="8724450"/>
            <a:ext cx="2619592" cy="515500"/>
          </a:xfrm>
          <a:custGeom>
            <a:avLst/>
            <a:gdLst/>
            <a:ahLst/>
            <a:cxnLst/>
            <a:rect l="l" t="t" r="r" b="b"/>
            <a:pathLst>
              <a:path w="2619592" h="515500">
                <a:moveTo>
                  <a:pt x="0" y="0"/>
                </a:moveTo>
                <a:lnTo>
                  <a:pt x="2619592" y="0"/>
                </a:lnTo>
                <a:lnTo>
                  <a:pt x="2619592" y="515500"/>
                </a:lnTo>
                <a:lnTo>
                  <a:pt x="0" y="515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8" name="Group 18"/>
          <p:cNvGrpSpPr/>
          <p:nvPr/>
        </p:nvGrpSpPr>
        <p:grpSpPr>
          <a:xfrm rot="-2700000">
            <a:off x="11882568" y="8454788"/>
            <a:ext cx="1992344" cy="229952"/>
            <a:chOff x="0" y="0"/>
            <a:chExt cx="2656459" cy="30660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656459" cy="306578"/>
            </a:xfrm>
            <a:custGeom>
              <a:avLst/>
              <a:gdLst/>
              <a:ahLst/>
              <a:cxnLst/>
              <a:rect l="l" t="t" r="r" b="b"/>
              <a:pathLst>
                <a:path w="2656459" h="306578">
                  <a:moveTo>
                    <a:pt x="0" y="153289"/>
                  </a:moveTo>
                  <a:cubicBezTo>
                    <a:pt x="0" y="68580"/>
                    <a:pt x="68580" y="0"/>
                    <a:pt x="153289" y="0"/>
                  </a:cubicBezTo>
                  <a:lnTo>
                    <a:pt x="2503170" y="0"/>
                  </a:lnTo>
                  <a:cubicBezTo>
                    <a:pt x="2587879" y="0"/>
                    <a:pt x="2656459" y="68580"/>
                    <a:pt x="2656459" y="153289"/>
                  </a:cubicBezTo>
                  <a:cubicBezTo>
                    <a:pt x="2656459" y="237998"/>
                    <a:pt x="2587879" y="306578"/>
                    <a:pt x="2503170" y="306578"/>
                  </a:cubicBezTo>
                  <a:lnTo>
                    <a:pt x="153289" y="306578"/>
                  </a:lnTo>
                  <a:cubicBezTo>
                    <a:pt x="68580" y="306578"/>
                    <a:pt x="0" y="237998"/>
                    <a:pt x="0" y="153289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277853" y="5620437"/>
            <a:ext cx="3212250" cy="3212250"/>
            <a:chOff x="0" y="0"/>
            <a:chExt cx="4283000" cy="4283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173728" cy="4189349"/>
            </a:xfrm>
            <a:custGeom>
              <a:avLst/>
              <a:gdLst/>
              <a:ahLst/>
              <a:cxnLst/>
              <a:rect l="l" t="t" r="r" b="b"/>
              <a:pathLst>
                <a:path w="4173728" h="4189349">
                  <a:moveTo>
                    <a:pt x="18161" y="1861058"/>
                  </a:moveTo>
                  <a:cubicBezTo>
                    <a:pt x="27051" y="1792986"/>
                    <a:pt x="39116" y="1725930"/>
                    <a:pt x="54356" y="1660017"/>
                  </a:cubicBezTo>
                  <a:lnTo>
                    <a:pt x="79121" y="1665732"/>
                  </a:lnTo>
                  <a:cubicBezTo>
                    <a:pt x="64135" y="1730883"/>
                    <a:pt x="52197" y="1797177"/>
                    <a:pt x="43434" y="1864487"/>
                  </a:cubicBezTo>
                  <a:close/>
                  <a:moveTo>
                    <a:pt x="98044" y="1589024"/>
                  </a:moveTo>
                  <a:cubicBezTo>
                    <a:pt x="115824" y="1522857"/>
                    <a:pt x="136652" y="1457960"/>
                    <a:pt x="160401" y="1394460"/>
                  </a:cubicBezTo>
                  <a:lnTo>
                    <a:pt x="184150" y="1403350"/>
                  </a:lnTo>
                  <a:cubicBezTo>
                    <a:pt x="160655" y="1466088"/>
                    <a:pt x="140081" y="1530223"/>
                    <a:pt x="122555" y="1595628"/>
                  </a:cubicBezTo>
                  <a:close/>
                  <a:moveTo>
                    <a:pt x="212979" y="1329690"/>
                  </a:moveTo>
                  <a:cubicBezTo>
                    <a:pt x="239268" y="1266571"/>
                    <a:pt x="268478" y="1204976"/>
                    <a:pt x="300355" y="1145032"/>
                  </a:cubicBezTo>
                  <a:lnTo>
                    <a:pt x="322707" y="1156970"/>
                  </a:lnTo>
                  <a:cubicBezTo>
                    <a:pt x="291084" y="1216152"/>
                    <a:pt x="262255" y="1277112"/>
                    <a:pt x="236347" y="1339469"/>
                  </a:cubicBezTo>
                  <a:close/>
                  <a:moveTo>
                    <a:pt x="288036" y="1068070"/>
                  </a:moveTo>
                  <a:cubicBezTo>
                    <a:pt x="322326" y="1009015"/>
                    <a:pt x="359283" y="951738"/>
                    <a:pt x="398907" y="896493"/>
                  </a:cubicBezTo>
                  <a:lnTo>
                    <a:pt x="419608" y="911225"/>
                  </a:lnTo>
                  <a:cubicBezTo>
                    <a:pt x="380492" y="965835"/>
                    <a:pt x="343916" y="1022477"/>
                    <a:pt x="310007" y="1080770"/>
                  </a:cubicBezTo>
                  <a:close/>
                  <a:moveTo>
                    <a:pt x="444627" y="835025"/>
                  </a:moveTo>
                  <a:cubicBezTo>
                    <a:pt x="486283" y="781050"/>
                    <a:pt x="530479" y="729107"/>
                    <a:pt x="576961" y="679323"/>
                  </a:cubicBezTo>
                  <a:lnTo>
                    <a:pt x="595503" y="696722"/>
                  </a:lnTo>
                  <a:cubicBezTo>
                    <a:pt x="549529" y="745871"/>
                    <a:pt x="505968" y="797179"/>
                    <a:pt x="464820" y="850646"/>
                  </a:cubicBezTo>
                  <a:close/>
                  <a:moveTo>
                    <a:pt x="630174" y="624205"/>
                  </a:moveTo>
                  <a:cubicBezTo>
                    <a:pt x="678434" y="576199"/>
                    <a:pt x="728980" y="530352"/>
                    <a:pt x="781558" y="487045"/>
                  </a:cubicBezTo>
                  <a:lnTo>
                    <a:pt x="797687" y="506603"/>
                  </a:lnTo>
                  <a:cubicBezTo>
                    <a:pt x="745617" y="549402"/>
                    <a:pt x="695706" y="594614"/>
                    <a:pt x="648081" y="642112"/>
                  </a:cubicBezTo>
                  <a:close/>
                  <a:moveTo>
                    <a:pt x="841756" y="439420"/>
                  </a:moveTo>
                  <a:cubicBezTo>
                    <a:pt x="895731" y="398145"/>
                    <a:pt x="951865" y="359283"/>
                    <a:pt x="1009777" y="323215"/>
                  </a:cubicBezTo>
                  <a:lnTo>
                    <a:pt x="1023239" y="344805"/>
                  </a:lnTo>
                  <a:cubicBezTo>
                    <a:pt x="965962" y="380492"/>
                    <a:pt x="910590" y="418846"/>
                    <a:pt x="857250" y="459740"/>
                  </a:cubicBezTo>
                  <a:close/>
                  <a:moveTo>
                    <a:pt x="1075436" y="283718"/>
                  </a:moveTo>
                  <a:cubicBezTo>
                    <a:pt x="1134364" y="249936"/>
                    <a:pt x="1195070" y="218821"/>
                    <a:pt x="1257300" y="190500"/>
                  </a:cubicBezTo>
                  <a:lnTo>
                    <a:pt x="1267841" y="213614"/>
                  </a:lnTo>
                  <a:cubicBezTo>
                    <a:pt x="1206373" y="241554"/>
                    <a:pt x="1146429" y="272288"/>
                    <a:pt x="1088263" y="305816"/>
                  </a:cubicBezTo>
                  <a:close/>
                  <a:moveTo>
                    <a:pt x="1340485" y="182118"/>
                  </a:moveTo>
                  <a:cubicBezTo>
                    <a:pt x="1403223" y="156337"/>
                    <a:pt x="1467485" y="133477"/>
                    <a:pt x="1533017" y="113538"/>
                  </a:cubicBezTo>
                  <a:lnTo>
                    <a:pt x="1540383" y="137795"/>
                  </a:lnTo>
                  <a:cubicBezTo>
                    <a:pt x="1475613" y="157353"/>
                    <a:pt x="1412113" y="180086"/>
                    <a:pt x="1350137" y="205486"/>
                  </a:cubicBezTo>
                  <a:close/>
                  <a:moveTo>
                    <a:pt x="1593850" y="70612"/>
                  </a:moveTo>
                  <a:cubicBezTo>
                    <a:pt x="1659255" y="53340"/>
                    <a:pt x="1725930" y="39116"/>
                    <a:pt x="1793621" y="28067"/>
                  </a:cubicBezTo>
                  <a:lnTo>
                    <a:pt x="1797685" y="53086"/>
                  </a:lnTo>
                  <a:cubicBezTo>
                    <a:pt x="1730756" y="64008"/>
                    <a:pt x="1664843" y="78105"/>
                    <a:pt x="1600200" y="95123"/>
                  </a:cubicBezTo>
                  <a:close/>
                  <a:moveTo>
                    <a:pt x="1875790" y="41529"/>
                  </a:moveTo>
                  <a:cubicBezTo>
                    <a:pt x="1936496" y="8636"/>
                    <a:pt x="2004441" y="3175"/>
                    <a:pt x="2073148" y="1016"/>
                  </a:cubicBezTo>
                  <a:lnTo>
                    <a:pt x="2073910" y="26416"/>
                  </a:lnTo>
                  <a:cubicBezTo>
                    <a:pt x="2005965" y="28575"/>
                    <a:pt x="1938782" y="33909"/>
                    <a:pt x="1872615" y="42291"/>
                  </a:cubicBezTo>
                  <a:close/>
                  <a:moveTo>
                    <a:pt x="2149983" y="0"/>
                  </a:moveTo>
                  <a:cubicBezTo>
                    <a:pt x="2218817" y="254"/>
                    <a:pt x="2286889" y="3810"/>
                    <a:pt x="2354072" y="10414"/>
                  </a:cubicBezTo>
                  <a:lnTo>
                    <a:pt x="2351532" y="35687"/>
                  </a:lnTo>
                  <a:cubicBezTo>
                    <a:pt x="2285111" y="29210"/>
                    <a:pt x="2217928" y="25654"/>
                    <a:pt x="2149856" y="25400"/>
                  </a:cubicBezTo>
                  <a:close/>
                  <a:moveTo>
                    <a:pt x="2430145" y="44704"/>
                  </a:moveTo>
                  <a:cubicBezTo>
                    <a:pt x="2498217" y="53848"/>
                    <a:pt x="2565273" y="66294"/>
                    <a:pt x="2631059" y="81661"/>
                  </a:cubicBezTo>
                  <a:lnTo>
                    <a:pt x="2625217" y="106426"/>
                  </a:lnTo>
                  <a:cubicBezTo>
                    <a:pt x="2560193" y="91186"/>
                    <a:pt x="2493899" y="78994"/>
                    <a:pt x="2426716" y="69977"/>
                  </a:cubicBezTo>
                  <a:close/>
                  <a:moveTo>
                    <a:pt x="2701925" y="125730"/>
                  </a:moveTo>
                  <a:cubicBezTo>
                    <a:pt x="2768092" y="143764"/>
                    <a:pt x="2832862" y="164846"/>
                    <a:pt x="2896235" y="188849"/>
                  </a:cubicBezTo>
                  <a:lnTo>
                    <a:pt x="2887218" y="212598"/>
                  </a:lnTo>
                  <a:cubicBezTo>
                    <a:pt x="2824607" y="188849"/>
                    <a:pt x="2760472" y="168021"/>
                    <a:pt x="2695194" y="150241"/>
                  </a:cubicBezTo>
                  <a:close/>
                  <a:moveTo>
                    <a:pt x="2960624" y="241808"/>
                  </a:moveTo>
                  <a:cubicBezTo>
                    <a:pt x="3023616" y="268351"/>
                    <a:pt x="3085211" y="297815"/>
                    <a:pt x="3145028" y="329946"/>
                  </a:cubicBezTo>
                  <a:lnTo>
                    <a:pt x="3132963" y="352298"/>
                  </a:lnTo>
                  <a:cubicBezTo>
                    <a:pt x="3073908" y="320421"/>
                    <a:pt x="3013075" y="291338"/>
                    <a:pt x="2950845" y="265176"/>
                  </a:cubicBezTo>
                  <a:close/>
                  <a:moveTo>
                    <a:pt x="3202051" y="390906"/>
                  </a:moveTo>
                  <a:cubicBezTo>
                    <a:pt x="3260979" y="425450"/>
                    <a:pt x="3318129" y="462661"/>
                    <a:pt x="3373247" y="502412"/>
                  </a:cubicBezTo>
                  <a:lnTo>
                    <a:pt x="3358388" y="522986"/>
                  </a:lnTo>
                  <a:cubicBezTo>
                    <a:pt x="3303905" y="483616"/>
                    <a:pt x="3247390" y="446913"/>
                    <a:pt x="3189224" y="412750"/>
                  </a:cubicBezTo>
                  <a:close/>
                  <a:moveTo>
                    <a:pt x="3421761" y="570230"/>
                  </a:moveTo>
                  <a:cubicBezTo>
                    <a:pt x="3475609" y="612140"/>
                    <a:pt x="3527425" y="656463"/>
                    <a:pt x="3576955" y="703199"/>
                  </a:cubicBezTo>
                  <a:lnTo>
                    <a:pt x="3559556" y="721741"/>
                  </a:lnTo>
                  <a:cubicBezTo>
                    <a:pt x="3510534" y="675640"/>
                    <a:pt x="3459353" y="631698"/>
                    <a:pt x="3406267" y="590423"/>
                  </a:cubicBezTo>
                  <a:close/>
                  <a:moveTo>
                    <a:pt x="3664712" y="636270"/>
                  </a:moveTo>
                  <a:cubicBezTo>
                    <a:pt x="3712591" y="684657"/>
                    <a:pt x="3758184" y="735457"/>
                    <a:pt x="3801237" y="788289"/>
                  </a:cubicBezTo>
                  <a:lnTo>
                    <a:pt x="3781552" y="804291"/>
                  </a:lnTo>
                  <a:cubicBezTo>
                    <a:pt x="3739007" y="752094"/>
                    <a:pt x="3693922" y="701929"/>
                    <a:pt x="3646551" y="654050"/>
                  </a:cubicBezTo>
                  <a:close/>
                  <a:moveTo>
                    <a:pt x="3830574" y="866267"/>
                  </a:moveTo>
                  <a:cubicBezTo>
                    <a:pt x="3871722" y="920496"/>
                    <a:pt x="3910330" y="976630"/>
                    <a:pt x="3946144" y="1034796"/>
                  </a:cubicBezTo>
                  <a:lnTo>
                    <a:pt x="3924554" y="1048131"/>
                  </a:lnTo>
                  <a:cubicBezTo>
                    <a:pt x="3889121" y="990727"/>
                    <a:pt x="3850894" y="935228"/>
                    <a:pt x="3810381" y="881634"/>
                  </a:cubicBezTo>
                  <a:close/>
                  <a:moveTo>
                    <a:pt x="3965067" y="1115949"/>
                  </a:moveTo>
                  <a:cubicBezTo>
                    <a:pt x="3998722" y="1175004"/>
                    <a:pt x="4029583" y="1235710"/>
                    <a:pt x="4057650" y="1298067"/>
                  </a:cubicBezTo>
                  <a:lnTo>
                    <a:pt x="4034536" y="1308481"/>
                  </a:lnTo>
                  <a:cubicBezTo>
                    <a:pt x="4006850" y="1246886"/>
                    <a:pt x="3976370" y="1186815"/>
                    <a:pt x="3943096" y="1128522"/>
                  </a:cubicBezTo>
                  <a:close/>
                  <a:moveTo>
                    <a:pt x="4065778" y="1381125"/>
                  </a:moveTo>
                  <a:cubicBezTo>
                    <a:pt x="4091305" y="1443990"/>
                    <a:pt x="4113911" y="1508252"/>
                    <a:pt x="4133596" y="1573911"/>
                  </a:cubicBezTo>
                  <a:lnTo>
                    <a:pt x="4109212" y="1581150"/>
                  </a:lnTo>
                  <a:cubicBezTo>
                    <a:pt x="4089908" y="1516253"/>
                    <a:pt x="4067429" y="1452753"/>
                    <a:pt x="4042283" y="1390650"/>
                  </a:cubicBezTo>
                  <a:close/>
                  <a:moveTo>
                    <a:pt x="4130675" y="1657350"/>
                  </a:moveTo>
                  <a:cubicBezTo>
                    <a:pt x="4147693" y="1722882"/>
                    <a:pt x="4161663" y="1789557"/>
                    <a:pt x="4172458" y="1857375"/>
                  </a:cubicBezTo>
                  <a:lnTo>
                    <a:pt x="4147312" y="1861312"/>
                  </a:lnTo>
                  <a:cubicBezTo>
                    <a:pt x="4136644" y="1794383"/>
                    <a:pt x="4122801" y="1728470"/>
                    <a:pt x="4106037" y="1663700"/>
                  </a:cubicBezTo>
                  <a:close/>
                  <a:moveTo>
                    <a:pt x="4158488" y="1939544"/>
                  </a:moveTo>
                  <a:cubicBezTo>
                    <a:pt x="4166743" y="2006600"/>
                    <a:pt x="4171823" y="2074545"/>
                    <a:pt x="4173728" y="2143252"/>
                  </a:cubicBezTo>
                  <a:lnTo>
                    <a:pt x="4148328" y="2143887"/>
                  </a:lnTo>
                  <a:cubicBezTo>
                    <a:pt x="4146423" y="2075942"/>
                    <a:pt x="4141343" y="2008759"/>
                    <a:pt x="4133215" y="1942592"/>
                  </a:cubicBezTo>
                  <a:close/>
                  <a:moveTo>
                    <a:pt x="4149217" y="2223135"/>
                  </a:moveTo>
                  <a:cubicBezTo>
                    <a:pt x="4148709" y="2291969"/>
                    <a:pt x="4144899" y="2359914"/>
                    <a:pt x="4138041" y="2427097"/>
                  </a:cubicBezTo>
                  <a:lnTo>
                    <a:pt x="4112768" y="2424557"/>
                  </a:lnTo>
                  <a:cubicBezTo>
                    <a:pt x="4119626" y="2358263"/>
                    <a:pt x="4123309" y="2290953"/>
                    <a:pt x="4123817" y="2223008"/>
                  </a:cubicBezTo>
                  <a:close/>
                  <a:moveTo>
                    <a:pt x="4103370" y="2503170"/>
                  </a:moveTo>
                  <a:cubicBezTo>
                    <a:pt x="4093972" y="2571242"/>
                    <a:pt x="4081272" y="2638171"/>
                    <a:pt x="4065651" y="2703957"/>
                  </a:cubicBezTo>
                  <a:lnTo>
                    <a:pt x="4040886" y="2698115"/>
                  </a:lnTo>
                  <a:cubicBezTo>
                    <a:pt x="4056380" y="2633091"/>
                    <a:pt x="4068826" y="2566924"/>
                    <a:pt x="4078224" y="2499741"/>
                  </a:cubicBezTo>
                  <a:close/>
                  <a:moveTo>
                    <a:pt x="4021328" y="2774823"/>
                  </a:moveTo>
                  <a:cubicBezTo>
                    <a:pt x="4003040" y="2840863"/>
                    <a:pt x="3981704" y="2905633"/>
                    <a:pt x="3957447" y="2968879"/>
                  </a:cubicBezTo>
                  <a:lnTo>
                    <a:pt x="3933698" y="2959735"/>
                  </a:lnTo>
                  <a:cubicBezTo>
                    <a:pt x="3957701" y="2897251"/>
                    <a:pt x="3978783" y="2833243"/>
                    <a:pt x="3996817" y="2767965"/>
                  </a:cubicBezTo>
                  <a:close/>
                  <a:moveTo>
                    <a:pt x="3904234" y="3033014"/>
                  </a:moveTo>
                  <a:cubicBezTo>
                    <a:pt x="3877437" y="3096006"/>
                    <a:pt x="3847846" y="3157347"/>
                    <a:pt x="3815334" y="3217037"/>
                  </a:cubicBezTo>
                  <a:lnTo>
                    <a:pt x="3792982" y="3204845"/>
                  </a:lnTo>
                  <a:cubicBezTo>
                    <a:pt x="3824986" y="3145917"/>
                    <a:pt x="3854323" y="3085211"/>
                    <a:pt x="3880739" y="3023108"/>
                  </a:cubicBezTo>
                  <a:close/>
                  <a:moveTo>
                    <a:pt x="3753993" y="3273806"/>
                  </a:moveTo>
                  <a:cubicBezTo>
                    <a:pt x="3719195" y="3332607"/>
                    <a:pt x="3681730" y="3389503"/>
                    <a:pt x="3641725" y="3444494"/>
                  </a:cubicBezTo>
                  <a:lnTo>
                    <a:pt x="3621151" y="3429508"/>
                  </a:lnTo>
                  <a:cubicBezTo>
                    <a:pt x="3660648" y="3375152"/>
                    <a:pt x="3697732" y="3318891"/>
                    <a:pt x="3732022" y="3260725"/>
                  </a:cubicBezTo>
                  <a:close/>
                  <a:moveTo>
                    <a:pt x="3573653" y="3492627"/>
                  </a:moveTo>
                  <a:cubicBezTo>
                    <a:pt x="3531616" y="3546348"/>
                    <a:pt x="3487039" y="3597910"/>
                    <a:pt x="3440176" y="3647313"/>
                  </a:cubicBezTo>
                  <a:lnTo>
                    <a:pt x="3421761" y="3629787"/>
                  </a:lnTo>
                  <a:cubicBezTo>
                    <a:pt x="3468116" y="3581019"/>
                    <a:pt x="3512185" y="3529965"/>
                    <a:pt x="3553714" y="3477006"/>
                  </a:cubicBezTo>
                  <a:close/>
                  <a:moveTo>
                    <a:pt x="3366389" y="3686302"/>
                  </a:moveTo>
                  <a:cubicBezTo>
                    <a:pt x="3317748" y="3733927"/>
                    <a:pt x="3266821" y="3779393"/>
                    <a:pt x="3213862" y="3822319"/>
                  </a:cubicBezTo>
                  <a:lnTo>
                    <a:pt x="3197860" y="3802634"/>
                  </a:lnTo>
                  <a:cubicBezTo>
                    <a:pt x="3250184" y="3760216"/>
                    <a:pt x="3300476" y="3715385"/>
                    <a:pt x="3348609" y="3668268"/>
                  </a:cubicBezTo>
                  <a:close/>
                  <a:moveTo>
                    <a:pt x="3135630" y="3851402"/>
                  </a:moveTo>
                  <a:cubicBezTo>
                    <a:pt x="3081274" y="3892296"/>
                    <a:pt x="3024886" y="3930650"/>
                    <a:pt x="2966720" y="3966337"/>
                  </a:cubicBezTo>
                  <a:lnTo>
                    <a:pt x="2953512" y="3944620"/>
                  </a:lnTo>
                  <a:cubicBezTo>
                    <a:pt x="3011043" y="3909314"/>
                    <a:pt x="3066669" y="3871468"/>
                    <a:pt x="3120390" y="3831082"/>
                  </a:cubicBezTo>
                  <a:close/>
                  <a:moveTo>
                    <a:pt x="2885440" y="3984879"/>
                  </a:moveTo>
                  <a:cubicBezTo>
                    <a:pt x="2826258" y="4018280"/>
                    <a:pt x="2765425" y="4048887"/>
                    <a:pt x="2702941" y="4076700"/>
                  </a:cubicBezTo>
                  <a:lnTo>
                    <a:pt x="2692654" y="4053459"/>
                  </a:lnTo>
                  <a:cubicBezTo>
                    <a:pt x="2754376" y="4026027"/>
                    <a:pt x="2814574" y="3995674"/>
                    <a:pt x="2872994" y="3962781"/>
                  </a:cubicBezTo>
                  <a:close/>
                  <a:moveTo>
                    <a:pt x="2619883" y="4084447"/>
                  </a:moveTo>
                  <a:cubicBezTo>
                    <a:pt x="2557018" y="4109720"/>
                    <a:pt x="2492502" y="4132072"/>
                    <a:pt x="2426843" y="4151503"/>
                  </a:cubicBezTo>
                  <a:lnTo>
                    <a:pt x="2419731" y="4127119"/>
                  </a:lnTo>
                  <a:cubicBezTo>
                    <a:pt x="2484628" y="4108069"/>
                    <a:pt x="2548255" y="4085844"/>
                    <a:pt x="2610485" y="4060952"/>
                  </a:cubicBezTo>
                  <a:close/>
                  <a:moveTo>
                    <a:pt x="2343531" y="4148201"/>
                  </a:moveTo>
                  <a:cubicBezTo>
                    <a:pt x="2277999" y="4164965"/>
                    <a:pt x="2211197" y="4178681"/>
                    <a:pt x="2143379" y="4189222"/>
                  </a:cubicBezTo>
                  <a:lnTo>
                    <a:pt x="2139442" y="4164076"/>
                  </a:lnTo>
                  <a:cubicBezTo>
                    <a:pt x="2206498" y="4153662"/>
                    <a:pt x="2272411" y="4140073"/>
                    <a:pt x="2337181" y="4123563"/>
                  </a:cubicBezTo>
                  <a:close/>
                  <a:moveTo>
                    <a:pt x="2061083" y="4174871"/>
                  </a:moveTo>
                  <a:cubicBezTo>
                    <a:pt x="1994027" y="4182872"/>
                    <a:pt x="1926082" y="4187698"/>
                    <a:pt x="1857375" y="4189349"/>
                  </a:cubicBezTo>
                  <a:lnTo>
                    <a:pt x="1856740" y="4163949"/>
                  </a:lnTo>
                  <a:cubicBezTo>
                    <a:pt x="1924685" y="4162298"/>
                    <a:pt x="1991868" y="4157599"/>
                    <a:pt x="2058162" y="4149725"/>
                  </a:cubicBezTo>
                  <a:close/>
                  <a:moveTo>
                    <a:pt x="1777492" y="4164584"/>
                  </a:moveTo>
                  <a:cubicBezTo>
                    <a:pt x="1708658" y="4163822"/>
                    <a:pt x="1640713" y="4159758"/>
                    <a:pt x="1573530" y="4152646"/>
                  </a:cubicBezTo>
                  <a:lnTo>
                    <a:pt x="1576197" y="4127373"/>
                  </a:lnTo>
                  <a:cubicBezTo>
                    <a:pt x="1642491" y="4134485"/>
                    <a:pt x="1709674" y="4138422"/>
                    <a:pt x="1777746" y="4139184"/>
                  </a:cubicBezTo>
                  <a:close/>
                  <a:moveTo>
                    <a:pt x="1497711" y="4117721"/>
                  </a:moveTo>
                  <a:cubicBezTo>
                    <a:pt x="1429766" y="4108069"/>
                    <a:pt x="1362837" y="4095115"/>
                    <a:pt x="1297051" y="4079113"/>
                  </a:cubicBezTo>
                  <a:lnTo>
                    <a:pt x="1303020" y="4054475"/>
                  </a:lnTo>
                  <a:cubicBezTo>
                    <a:pt x="1368044" y="4070223"/>
                    <a:pt x="1434084" y="4082923"/>
                    <a:pt x="1501267" y="4092575"/>
                  </a:cubicBezTo>
                  <a:close/>
                  <a:moveTo>
                    <a:pt x="1226439" y="4034663"/>
                  </a:moveTo>
                  <a:cubicBezTo>
                    <a:pt x="1160526" y="4016121"/>
                    <a:pt x="1095883" y="3994531"/>
                    <a:pt x="1032637" y="3970020"/>
                  </a:cubicBezTo>
                  <a:lnTo>
                    <a:pt x="1041781" y="3946398"/>
                  </a:lnTo>
                  <a:cubicBezTo>
                    <a:pt x="1104265" y="3970655"/>
                    <a:pt x="1168146" y="3991991"/>
                    <a:pt x="1233297" y="4010279"/>
                  </a:cubicBezTo>
                  <a:close/>
                  <a:moveTo>
                    <a:pt x="968502" y="3916680"/>
                  </a:moveTo>
                  <a:cubicBezTo>
                    <a:pt x="905637" y="3889629"/>
                    <a:pt x="844423" y="3859784"/>
                    <a:pt x="784860" y="3827018"/>
                  </a:cubicBezTo>
                  <a:lnTo>
                    <a:pt x="797052" y="3804793"/>
                  </a:lnTo>
                  <a:cubicBezTo>
                    <a:pt x="855853" y="3837051"/>
                    <a:pt x="916432" y="3866642"/>
                    <a:pt x="978535" y="3893312"/>
                  </a:cubicBezTo>
                  <a:close/>
                  <a:moveTo>
                    <a:pt x="728345" y="3765677"/>
                  </a:moveTo>
                  <a:cubicBezTo>
                    <a:pt x="669671" y="3730752"/>
                    <a:pt x="612902" y="3693033"/>
                    <a:pt x="558038" y="3652774"/>
                  </a:cubicBezTo>
                  <a:lnTo>
                    <a:pt x="573024" y="3632327"/>
                  </a:lnTo>
                  <a:cubicBezTo>
                    <a:pt x="627253" y="3672078"/>
                    <a:pt x="683387" y="3709289"/>
                    <a:pt x="741299" y="3743833"/>
                  </a:cubicBezTo>
                  <a:close/>
                  <a:moveTo>
                    <a:pt x="814959" y="3822827"/>
                  </a:moveTo>
                  <a:cubicBezTo>
                    <a:pt x="761492" y="3780536"/>
                    <a:pt x="710057" y="3735832"/>
                    <a:pt x="660781" y="3688715"/>
                  </a:cubicBezTo>
                  <a:lnTo>
                    <a:pt x="678434" y="3670300"/>
                  </a:lnTo>
                  <a:cubicBezTo>
                    <a:pt x="727075" y="3716782"/>
                    <a:pt x="777875" y="3761105"/>
                    <a:pt x="830707" y="3802888"/>
                  </a:cubicBezTo>
                  <a:close/>
                  <a:moveTo>
                    <a:pt x="606425" y="3634613"/>
                  </a:moveTo>
                  <a:cubicBezTo>
                    <a:pt x="558927" y="3585845"/>
                    <a:pt x="513715" y="3534664"/>
                    <a:pt x="471043" y="3481578"/>
                  </a:cubicBezTo>
                  <a:lnTo>
                    <a:pt x="490855" y="3465703"/>
                  </a:lnTo>
                  <a:cubicBezTo>
                    <a:pt x="533019" y="3518281"/>
                    <a:pt x="577723" y="3568700"/>
                    <a:pt x="624586" y="3616960"/>
                  </a:cubicBezTo>
                  <a:close/>
                  <a:moveTo>
                    <a:pt x="424053" y="3420999"/>
                  </a:moveTo>
                  <a:cubicBezTo>
                    <a:pt x="383413" y="3366516"/>
                    <a:pt x="345186" y="3310001"/>
                    <a:pt x="309753" y="3251581"/>
                  </a:cubicBezTo>
                  <a:lnTo>
                    <a:pt x="331597" y="3238500"/>
                  </a:lnTo>
                  <a:cubicBezTo>
                    <a:pt x="366649" y="3296158"/>
                    <a:pt x="404368" y="3352038"/>
                    <a:pt x="444500" y="3405886"/>
                  </a:cubicBezTo>
                  <a:close/>
                  <a:moveTo>
                    <a:pt x="271272" y="3185414"/>
                  </a:moveTo>
                  <a:cubicBezTo>
                    <a:pt x="238125" y="3126105"/>
                    <a:pt x="207645" y="3065145"/>
                    <a:pt x="180213" y="3002534"/>
                  </a:cubicBezTo>
                  <a:lnTo>
                    <a:pt x="203454" y="2992374"/>
                  </a:lnTo>
                  <a:cubicBezTo>
                    <a:pt x="230632" y="3054223"/>
                    <a:pt x="260731" y="3114548"/>
                    <a:pt x="293497" y="3173095"/>
                  </a:cubicBezTo>
                  <a:close/>
                  <a:moveTo>
                    <a:pt x="172847" y="2919476"/>
                  </a:moveTo>
                  <a:cubicBezTo>
                    <a:pt x="147828" y="2856484"/>
                    <a:pt x="125730" y="2791968"/>
                    <a:pt x="106680" y="2726182"/>
                  </a:cubicBezTo>
                  <a:lnTo>
                    <a:pt x="131064" y="2719070"/>
                  </a:lnTo>
                  <a:cubicBezTo>
                    <a:pt x="149860" y="2784094"/>
                    <a:pt x="171704" y="2847848"/>
                    <a:pt x="196469" y="2910078"/>
                  </a:cubicBezTo>
                  <a:close/>
                  <a:moveTo>
                    <a:pt x="64389" y="2664460"/>
                  </a:moveTo>
                  <a:cubicBezTo>
                    <a:pt x="47879" y="2598801"/>
                    <a:pt x="34417" y="2531999"/>
                    <a:pt x="24257" y="2464054"/>
                  </a:cubicBezTo>
                  <a:lnTo>
                    <a:pt x="49403" y="2460244"/>
                  </a:lnTo>
                  <a:cubicBezTo>
                    <a:pt x="59563" y="2527300"/>
                    <a:pt x="72771" y="2593340"/>
                    <a:pt x="89154" y="2658237"/>
                  </a:cubicBezTo>
                  <a:close/>
                  <a:moveTo>
                    <a:pt x="14097" y="2388235"/>
                  </a:moveTo>
                  <a:cubicBezTo>
                    <a:pt x="6350" y="2321179"/>
                    <a:pt x="1778" y="2253234"/>
                    <a:pt x="381" y="2184400"/>
                  </a:cubicBezTo>
                  <a:lnTo>
                    <a:pt x="25781" y="2183892"/>
                  </a:lnTo>
                  <a:cubicBezTo>
                    <a:pt x="27178" y="2251837"/>
                    <a:pt x="31623" y="2319020"/>
                    <a:pt x="39243" y="2385314"/>
                  </a:cubicBezTo>
                  <a:close/>
                  <a:moveTo>
                    <a:pt x="0" y="2141474"/>
                  </a:moveTo>
                  <a:cubicBezTo>
                    <a:pt x="0" y="2072640"/>
                    <a:pt x="3302" y="2004568"/>
                    <a:pt x="9652" y="1937258"/>
                  </a:cubicBezTo>
                  <a:lnTo>
                    <a:pt x="34925" y="1939671"/>
                  </a:lnTo>
                  <a:cubicBezTo>
                    <a:pt x="28575" y="2006092"/>
                    <a:pt x="25400" y="2073402"/>
                    <a:pt x="25400" y="2141474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22" name="Picture 21" descr="Nehru Zoological Park to soon have one of India's largest aquariums |  Hyderabad News - Times of India">
            <a:extLst>
              <a:ext uri="{FF2B5EF4-FFF2-40B4-BE49-F238E27FC236}">
                <a16:creationId xmlns:a16="http://schemas.microsoft.com/office/drawing/2014/main" id="{AA478C43-7D97-5C8E-07C4-CC60CED39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8400" y="1472894"/>
            <a:ext cx="8328053" cy="828079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6B26CF8-03AF-75F8-82DF-4C18D88E4127}"/>
              </a:ext>
            </a:extLst>
          </p:cNvPr>
          <p:cNvSpPr txBox="1"/>
          <p:nvPr/>
        </p:nvSpPr>
        <p:spPr>
          <a:xfrm>
            <a:off x="699823" y="7615235"/>
            <a:ext cx="914400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Presented By:</a:t>
            </a:r>
            <a:br>
              <a:rPr lang="en-IN" sz="3200" dirty="0"/>
            </a:br>
            <a:r>
              <a:rPr lang="en-IN" sz="3200" dirty="0"/>
              <a:t>P. </a:t>
            </a:r>
            <a:r>
              <a:rPr lang="en-IN" sz="3200" i="1" dirty="0"/>
              <a:t>Archana </a:t>
            </a:r>
          </a:p>
          <a:p>
            <a:r>
              <a:rPr lang="en-IN" sz="3200" i="1" dirty="0"/>
              <a:t>R. Vamshi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34627" y="775050"/>
            <a:ext cx="4912836" cy="10277400"/>
          </a:xfrm>
          <a:custGeom>
            <a:avLst/>
            <a:gdLst/>
            <a:ahLst/>
            <a:cxnLst/>
            <a:rect l="l" t="t" r="r" b="b"/>
            <a:pathLst>
              <a:path w="4912836" h="10277400">
                <a:moveTo>
                  <a:pt x="0" y="0"/>
                </a:moveTo>
                <a:lnTo>
                  <a:pt x="4912836" y="0"/>
                </a:lnTo>
                <a:lnTo>
                  <a:pt x="4912836" y="10277400"/>
                </a:lnTo>
                <a:lnTo>
                  <a:pt x="0" y="1027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C3305A-2FED-9AFA-F923-E0EB83FA4E36}"/>
              </a:ext>
            </a:extLst>
          </p:cNvPr>
          <p:cNvSpPr txBox="1"/>
          <p:nvPr/>
        </p:nvSpPr>
        <p:spPr>
          <a:xfrm>
            <a:off x="1509012" y="1740792"/>
            <a:ext cx="1318862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Animal classification is difficult because different animals have different biological characteristics.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Manual classification is time-consuming, requires expert knowledge, and may lead to errors.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Machine Learning can automatically learn from biological features and classify animals accurately.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An accurate classification system improves speed, reliability, and efficiency for biological research and wildlife studies.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F56158-7BA0-3DDD-F721-2A12FAFB1712}"/>
              </a:ext>
            </a:extLst>
          </p:cNvPr>
          <p:cNvSpPr txBox="1"/>
          <p:nvPr/>
        </p:nvSpPr>
        <p:spPr>
          <a:xfrm>
            <a:off x="1509012" y="6021367"/>
            <a:ext cx="97267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/>
              <a:t>Solution: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FC94CC-3097-87CF-4FFB-1FD53D119B8E}"/>
              </a:ext>
            </a:extLst>
          </p:cNvPr>
          <p:cNvSpPr txBox="1"/>
          <p:nvPr/>
        </p:nvSpPr>
        <p:spPr>
          <a:xfrm>
            <a:off x="1752600" y="7381506"/>
            <a:ext cx="1370409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Develop an intelligent Machine Learning-based animal classification system using the </a:t>
            </a:r>
            <a:r>
              <a:rPr lang="en-IN" sz="3200" b="1" dirty="0"/>
              <a:t>Random Forest</a:t>
            </a:r>
            <a:r>
              <a:rPr lang="en-IN" sz="3200" dirty="0"/>
              <a:t> algorithm to automatically identify animal classes from biological characteristics, improving accuracy, efficiency, and reducing manual effort.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939441-2453-AC70-5806-AC817377E1DA}"/>
              </a:ext>
            </a:extLst>
          </p:cNvPr>
          <p:cNvSpPr txBox="1"/>
          <p:nvPr/>
        </p:nvSpPr>
        <p:spPr>
          <a:xfrm>
            <a:off x="1509012" y="476428"/>
            <a:ext cx="97267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/>
              <a:t>Problem Statement: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1EFB44-579C-7BA3-0A8E-846A3AF41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9EEAA81-A8A8-D708-DE71-6876D64B7E3A}"/>
              </a:ext>
            </a:extLst>
          </p:cNvPr>
          <p:cNvSpPr/>
          <p:nvPr/>
        </p:nvSpPr>
        <p:spPr>
          <a:xfrm>
            <a:off x="14534627" y="775050"/>
            <a:ext cx="4912836" cy="10277400"/>
          </a:xfrm>
          <a:custGeom>
            <a:avLst/>
            <a:gdLst/>
            <a:ahLst/>
            <a:cxnLst/>
            <a:rect l="l" t="t" r="r" b="b"/>
            <a:pathLst>
              <a:path w="4912836" h="10277400">
                <a:moveTo>
                  <a:pt x="0" y="0"/>
                </a:moveTo>
                <a:lnTo>
                  <a:pt x="4912836" y="0"/>
                </a:lnTo>
                <a:lnTo>
                  <a:pt x="4912836" y="10277400"/>
                </a:lnTo>
                <a:lnTo>
                  <a:pt x="0" y="1027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9DCBD712-1321-59F2-EAB1-CFBA4F8481A5}"/>
              </a:ext>
            </a:extLst>
          </p:cNvPr>
          <p:cNvSpPr txBox="1">
            <a:spLocks/>
          </p:cNvSpPr>
          <p:nvPr/>
        </p:nvSpPr>
        <p:spPr>
          <a:xfrm>
            <a:off x="1420906" y="266700"/>
            <a:ext cx="14706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6000" b="1"/>
              <a:t>Data Preprocessing</a:t>
            </a:r>
            <a:endParaRPr lang="en-IN" sz="6000" b="1" dirty="0"/>
          </a:p>
        </p:txBody>
      </p:sp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E7D6923C-F808-3487-054B-C783D4AD77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1877116"/>
              </p:ext>
            </p:extLst>
          </p:nvPr>
        </p:nvGraphicFramePr>
        <p:xfrm>
          <a:off x="1676400" y="6515100"/>
          <a:ext cx="14554200" cy="274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756EE17-A346-9462-07ED-E069C42CA454}"/>
              </a:ext>
            </a:extLst>
          </p:cNvPr>
          <p:cNvSpPr txBox="1"/>
          <p:nvPr/>
        </p:nvSpPr>
        <p:spPr>
          <a:xfrm>
            <a:off x="1420906" y="1409700"/>
            <a:ext cx="1416199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Data Source:</a:t>
            </a:r>
          </a:p>
          <a:p>
            <a:r>
              <a:rPr lang="en-IN" sz="2800" dirty="0"/>
              <a:t>Tabular </a:t>
            </a:r>
            <a:r>
              <a:rPr lang="en-IN" sz="2800" b="1" dirty="0"/>
              <a:t>Zoo Dataset</a:t>
            </a:r>
            <a:r>
              <a:rPr lang="en-IN" sz="2800" dirty="0"/>
              <a:t> containing 101 animal records with 16 biological characteristics, including hair, feathers, eggs, milk, airborne, aquatic, predator, toothed, backbone, breathes, venomous, fins, legs, tail, domestic, and </a:t>
            </a:r>
            <a:r>
              <a:rPr lang="en-IN" sz="2800" dirty="0" err="1"/>
              <a:t>catsize</a:t>
            </a:r>
            <a:r>
              <a:rPr lang="en-IN" sz="2800" dirty="0"/>
              <a:t>. The target variable is </a:t>
            </a:r>
            <a:r>
              <a:rPr lang="en-IN" sz="2800" dirty="0" err="1"/>
              <a:t>class_type</a:t>
            </a:r>
            <a:r>
              <a:rPr lang="en-IN" sz="2800" dirty="0"/>
              <a:t>, representing seven different animal classes.</a:t>
            </a:r>
          </a:p>
          <a:p>
            <a:endParaRPr lang="en-IN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4524D4-48A7-0C87-F2B2-28D7B9C562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8652" y="4128897"/>
            <a:ext cx="14681947" cy="246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14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3A2541-EFFA-197F-E951-AF18F36AA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3C93462-D271-0AA9-3141-C1A8DED2DE93}"/>
              </a:ext>
            </a:extLst>
          </p:cNvPr>
          <p:cNvSpPr/>
          <p:nvPr/>
        </p:nvSpPr>
        <p:spPr>
          <a:xfrm>
            <a:off x="15054977" y="-874247"/>
            <a:ext cx="4608036" cy="4161694"/>
          </a:xfrm>
          <a:custGeom>
            <a:avLst/>
            <a:gdLst/>
            <a:ahLst/>
            <a:cxnLst/>
            <a:rect l="l" t="t" r="r" b="b"/>
            <a:pathLst>
              <a:path w="4608036" h="4161694">
                <a:moveTo>
                  <a:pt x="0" y="0"/>
                </a:moveTo>
                <a:lnTo>
                  <a:pt x="4608036" y="0"/>
                </a:lnTo>
                <a:lnTo>
                  <a:pt x="4608036" y="4161694"/>
                </a:lnTo>
                <a:lnTo>
                  <a:pt x="0" y="4161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0070042-F42F-BCC8-E272-AA22C0D9D59A}"/>
              </a:ext>
            </a:extLst>
          </p:cNvPr>
          <p:cNvSpPr txBox="1"/>
          <p:nvPr/>
        </p:nvSpPr>
        <p:spPr>
          <a:xfrm>
            <a:off x="1194002" y="283270"/>
            <a:ext cx="13860975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092241"/>
                </a:solidFill>
                <a:latin typeface="Archivo Black"/>
                <a:ea typeface="Archivo Black"/>
                <a:cs typeface="Archivo Black"/>
                <a:sym typeface="Archivo Black"/>
              </a:rPr>
              <a:t>Exploratory Data Analysis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924005E-B12B-0A89-DA8B-A5FE4930E1A5}"/>
              </a:ext>
            </a:extLst>
          </p:cNvPr>
          <p:cNvSpPr txBox="1"/>
          <p:nvPr/>
        </p:nvSpPr>
        <p:spPr>
          <a:xfrm>
            <a:off x="1981200" y="3652973"/>
            <a:ext cx="4436550" cy="456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endParaRPr lang="en-US" sz="2799" dirty="0">
              <a:solidFill>
                <a:srgbClr val="09224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DD27BA2-A78B-86A6-DBDB-CF966F7A43B4}"/>
              </a:ext>
            </a:extLst>
          </p:cNvPr>
          <p:cNvSpPr txBox="1"/>
          <p:nvPr/>
        </p:nvSpPr>
        <p:spPr>
          <a:xfrm>
            <a:off x="1981200" y="1614106"/>
            <a:ext cx="4436550" cy="55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092241"/>
                </a:solidFill>
                <a:latin typeface="Arimo Bold"/>
                <a:ea typeface="Arimo Bold"/>
                <a:cs typeface="Arimo Bold"/>
                <a:sym typeface="Arimo Bold"/>
              </a:rPr>
              <a:t>Corelation Heatmap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2DAD97F-C196-264D-BABD-49928C6A40B2}"/>
              </a:ext>
            </a:extLst>
          </p:cNvPr>
          <p:cNvSpPr txBox="1"/>
          <p:nvPr/>
        </p:nvSpPr>
        <p:spPr>
          <a:xfrm>
            <a:off x="11353800" y="1549955"/>
            <a:ext cx="5715000" cy="5550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200" b="1" dirty="0">
                <a:solidFill>
                  <a:srgbClr val="092241"/>
                </a:solidFill>
                <a:latin typeface="Arimo Bold"/>
                <a:ea typeface="Arimo Bold"/>
                <a:cs typeface="Arimo Bold"/>
                <a:sym typeface="Arimo Bold"/>
              </a:rPr>
              <a:t>Target Variable Distribution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FA0A2BD-52A7-E018-52F1-8A90032704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2476500"/>
            <a:ext cx="8390837" cy="67817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50E7517-F992-4C33-3570-1F952610A0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2884115"/>
            <a:ext cx="6995375" cy="585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15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BBDAFA-E246-07FC-0B72-1718FB03C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2B454DA-0516-3A6A-B497-38058E1A5F21}"/>
              </a:ext>
            </a:extLst>
          </p:cNvPr>
          <p:cNvSpPr/>
          <p:nvPr/>
        </p:nvSpPr>
        <p:spPr>
          <a:xfrm>
            <a:off x="15054977" y="-874247"/>
            <a:ext cx="4608036" cy="4161694"/>
          </a:xfrm>
          <a:custGeom>
            <a:avLst/>
            <a:gdLst/>
            <a:ahLst/>
            <a:cxnLst/>
            <a:rect l="l" t="t" r="r" b="b"/>
            <a:pathLst>
              <a:path w="4608036" h="4161694">
                <a:moveTo>
                  <a:pt x="0" y="0"/>
                </a:moveTo>
                <a:lnTo>
                  <a:pt x="4608036" y="0"/>
                </a:lnTo>
                <a:lnTo>
                  <a:pt x="4608036" y="4161694"/>
                </a:lnTo>
                <a:lnTo>
                  <a:pt x="0" y="4161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AB38B4A-D2D3-DB28-0190-C9F2CBFA0A8C}"/>
              </a:ext>
            </a:extLst>
          </p:cNvPr>
          <p:cNvSpPr txBox="1"/>
          <p:nvPr/>
        </p:nvSpPr>
        <p:spPr>
          <a:xfrm>
            <a:off x="1981200" y="3652973"/>
            <a:ext cx="4436550" cy="456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endParaRPr lang="en-US" sz="2799" dirty="0">
              <a:solidFill>
                <a:srgbClr val="09224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8DF906D-5E15-6FCC-8F2B-DB3153987E32}"/>
              </a:ext>
            </a:extLst>
          </p:cNvPr>
          <p:cNvSpPr txBox="1"/>
          <p:nvPr/>
        </p:nvSpPr>
        <p:spPr>
          <a:xfrm>
            <a:off x="1994647" y="1139462"/>
            <a:ext cx="6778387" cy="1195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IN" sz="3600" b="1" dirty="0"/>
              <a:t>Analysis of Animal Classes by Number of Legs</a:t>
            </a:r>
            <a:endParaRPr lang="en-US" sz="3600" b="1" dirty="0">
              <a:solidFill>
                <a:srgbClr val="092241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B1B1226-971D-8FE8-EE6C-5232AD85E24C}"/>
              </a:ext>
            </a:extLst>
          </p:cNvPr>
          <p:cNvSpPr txBox="1"/>
          <p:nvPr/>
        </p:nvSpPr>
        <p:spPr>
          <a:xfrm>
            <a:off x="10676396" y="849837"/>
            <a:ext cx="5715000" cy="1195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IN" sz="3600" b="1" dirty="0"/>
              <a:t>Aquatic Feature Distribution by Animal Class</a:t>
            </a:r>
            <a:endParaRPr lang="en-US" sz="3600" b="1" dirty="0">
              <a:solidFill>
                <a:srgbClr val="092241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D79BF-3234-0A6C-09C8-C827764AD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950" y="2884115"/>
            <a:ext cx="7614226" cy="58529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8B97EE-D33A-4081-B7BA-31F75E4EC5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2913250"/>
            <a:ext cx="7217929" cy="568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25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25008" y="5235162"/>
            <a:ext cx="14845322" cy="5553403"/>
          </a:xfrm>
          <a:custGeom>
            <a:avLst/>
            <a:gdLst/>
            <a:ahLst/>
            <a:cxnLst/>
            <a:rect l="l" t="t" r="r" b="b"/>
            <a:pathLst>
              <a:path w="14845322" h="5553403">
                <a:moveTo>
                  <a:pt x="0" y="0"/>
                </a:moveTo>
                <a:lnTo>
                  <a:pt x="14845322" y="0"/>
                </a:lnTo>
                <a:lnTo>
                  <a:pt x="14845322" y="5553402"/>
                </a:lnTo>
                <a:lnTo>
                  <a:pt x="0" y="5553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531425" y="981475"/>
            <a:ext cx="15225150" cy="96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dirty="0">
                <a:solidFill>
                  <a:srgbClr val="092241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Models Used: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899365" y="2167743"/>
            <a:ext cx="4495800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63"/>
              </a:lnSpc>
            </a:pPr>
            <a:r>
              <a:rPr lang="en-IN" sz="3600" b="1" dirty="0"/>
              <a:t>Best Selected Model:</a:t>
            </a:r>
            <a:endParaRPr lang="en-US" sz="3600" b="1" dirty="0">
              <a:solidFill>
                <a:srgbClr val="09224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953000" y="3096678"/>
            <a:ext cx="4038600" cy="3447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IN" sz="2800" dirty="0"/>
              <a:t>Logistic Regression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IN" sz="2800" dirty="0"/>
              <a:t>Decision Tree Classifier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IN" sz="2800" dirty="0"/>
              <a:t> K-Nearest </a:t>
            </a:r>
            <a:r>
              <a:rPr lang="en-IN" sz="2800" dirty="0" err="1"/>
              <a:t>Neighbors</a:t>
            </a:r>
            <a:r>
              <a:rPr lang="en-IN" sz="2800" dirty="0"/>
              <a:t> (KNN) 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IN" sz="2800" dirty="0"/>
              <a:t>Gaussian Naïve Bayes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Support Vector Machine (SVM)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Random Forest Classifier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68EF4-1723-1CEF-4CA3-DD1471A9EC45}"/>
              </a:ext>
            </a:extLst>
          </p:cNvPr>
          <p:cNvSpPr txBox="1"/>
          <p:nvPr/>
        </p:nvSpPr>
        <p:spPr>
          <a:xfrm>
            <a:off x="4800600" y="2254487"/>
            <a:ext cx="62977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Evaluated Models: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412FAA-B0FE-3B68-E898-8A34B8996E89}"/>
              </a:ext>
            </a:extLst>
          </p:cNvPr>
          <p:cNvSpPr txBox="1"/>
          <p:nvPr/>
        </p:nvSpPr>
        <p:spPr>
          <a:xfrm>
            <a:off x="9784228" y="3838749"/>
            <a:ext cx="553197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Handles multiclass classification effectively.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Reduces overfitting through ensemble learning.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 Provides stable and consistent predictions.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 Handles diverse biological features efficiently. Generalizes well to unseen data.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6BC705-F83A-F8BF-23F8-FEB2E2114225}"/>
              </a:ext>
            </a:extLst>
          </p:cNvPr>
          <p:cNvSpPr txBox="1"/>
          <p:nvPr/>
        </p:nvSpPr>
        <p:spPr>
          <a:xfrm>
            <a:off x="9872471" y="267609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RandomForest Classifier:</a:t>
            </a:r>
          </a:p>
        </p:txBody>
      </p:sp>
      <p:sp>
        <p:nvSpPr>
          <p:cNvPr id="13" name="Freeform 2">
            <a:extLst>
              <a:ext uri="{FF2B5EF4-FFF2-40B4-BE49-F238E27FC236}">
                <a16:creationId xmlns:a16="http://schemas.microsoft.com/office/drawing/2014/main" id="{94DE0946-64DB-FBAA-7828-958B25B5DA6E}"/>
              </a:ext>
            </a:extLst>
          </p:cNvPr>
          <p:cNvSpPr/>
          <p:nvPr/>
        </p:nvSpPr>
        <p:spPr>
          <a:xfrm>
            <a:off x="14903824" y="-769958"/>
            <a:ext cx="4608036" cy="4161694"/>
          </a:xfrm>
          <a:custGeom>
            <a:avLst/>
            <a:gdLst/>
            <a:ahLst/>
            <a:cxnLst/>
            <a:rect l="l" t="t" r="r" b="b"/>
            <a:pathLst>
              <a:path w="4608036" h="4161694">
                <a:moveTo>
                  <a:pt x="0" y="0"/>
                </a:moveTo>
                <a:lnTo>
                  <a:pt x="4608036" y="0"/>
                </a:lnTo>
                <a:lnTo>
                  <a:pt x="4608036" y="4161694"/>
                </a:lnTo>
                <a:lnTo>
                  <a:pt x="0" y="4161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D8CD975-4077-D0F2-B1AA-234B66F19B82}"/>
              </a:ext>
            </a:extLst>
          </p:cNvPr>
          <p:cNvSpPr/>
          <p:nvPr/>
        </p:nvSpPr>
        <p:spPr>
          <a:xfrm>
            <a:off x="9556376" y="3540257"/>
            <a:ext cx="5759824" cy="510844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EC5665E-117F-D254-616E-A35DDAB34F22}"/>
              </a:ext>
            </a:extLst>
          </p:cNvPr>
          <p:cNvSpPr/>
          <p:nvPr/>
        </p:nvSpPr>
        <p:spPr>
          <a:xfrm>
            <a:off x="4800600" y="2900818"/>
            <a:ext cx="4608036" cy="448536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47493BC-0674-17DF-8B36-D3EC7305C52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776" y="3340438"/>
            <a:ext cx="3649188" cy="4952164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037D51F-70FE-1755-44CA-A216555783CD}"/>
              </a:ext>
            </a:extLst>
          </p:cNvPr>
          <p:cNvSpPr/>
          <p:nvPr/>
        </p:nvSpPr>
        <p:spPr>
          <a:xfrm>
            <a:off x="685800" y="3199310"/>
            <a:ext cx="3967060" cy="544939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A8817-EF84-BDDA-A977-51EC19120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22CF2D2-C1D0-25BB-E095-1EFD160B4F57}"/>
              </a:ext>
            </a:extLst>
          </p:cNvPr>
          <p:cNvSpPr/>
          <p:nvPr/>
        </p:nvSpPr>
        <p:spPr>
          <a:xfrm>
            <a:off x="14534627" y="775050"/>
            <a:ext cx="4912836" cy="10277400"/>
          </a:xfrm>
          <a:custGeom>
            <a:avLst/>
            <a:gdLst/>
            <a:ahLst/>
            <a:cxnLst/>
            <a:rect l="l" t="t" r="r" b="b"/>
            <a:pathLst>
              <a:path w="4912836" h="10277400">
                <a:moveTo>
                  <a:pt x="0" y="0"/>
                </a:moveTo>
                <a:lnTo>
                  <a:pt x="4912836" y="0"/>
                </a:lnTo>
                <a:lnTo>
                  <a:pt x="4912836" y="10277400"/>
                </a:lnTo>
                <a:lnTo>
                  <a:pt x="0" y="1027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5CECDD-B130-F51F-B72F-4B525CD5BCFC}"/>
              </a:ext>
            </a:extLst>
          </p:cNvPr>
          <p:cNvSpPr txBox="1"/>
          <p:nvPr/>
        </p:nvSpPr>
        <p:spPr>
          <a:xfrm>
            <a:off x="878540" y="305886"/>
            <a:ext cx="129136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/>
              <a:t>Model performance And metrices: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2F0901-F1C1-EF8C-5666-02DC756AF05D}"/>
              </a:ext>
            </a:extLst>
          </p:cNvPr>
          <p:cNvSpPr txBox="1"/>
          <p:nvPr/>
        </p:nvSpPr>
        <p:spPr>
          <a:xfrm>
            <a:off x="8556554" y="3617436"/>
            <a:ext cx="8461385" cy="3926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learning method that builds many Decision Trees and combines their outputs.</a:t>
            </a:r>
            <a:endParaRPr lang="en-US" sz="2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is trained on a random bootstrap sample of the data, using a random subset of features at each split.</a:t>
            </a:r>
            <a:endParaRPr lang="en-US" sz="2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classification, the final prediction is the class chosen by majority vote across all the trees.</a:t>
            </a:r>
            <a:endParaRPr lang="en-US" sz="2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averaging effect reduces variance and overfitting compared to any single Decision Tree.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87AB1C-E398-4A2A-0CC1-0C100F19AEFA}"/>
              </a:ext>
            </a:extLst>
          </p:cNvPr>
          <p:cNvSpPr txBox="1"/>
          <p:nvPr/>
        </p:nvSpPr>
        <p:spPr>
          <a:xfrm>
            <a:off x="8556554" y="2620039"/>
            <a:ext cx="5625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Random Forest Classifier: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01EE2D-0B11-16D0-88EC-7A63985B7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633145"/>
              </p:ext>
            </p:extLst>
          </p:nvPr>
        </p:nvGraphicFramePr>
        <p:xfrm>
          <a:off x="1046592" y="3002101"/>
          <a:ext cx="5831616" cy="3022669"/>
        </p:xfrm>
        <a:graphic>
          <a:graphicData uri="http://schemas.openxmlformats.org/drawingml/2006/table">
            <a:tbl>
              <a:tblPr/>
              <a:tblGrid>
                <a:gridCol w="817292">
                  <a:extLst>
                    <a:ext uri="{9D8B030D-6E8A-4147-A177-3AD203B41FA5}">
                      <a16:colId xmlns:a16="http://schemas.microsoft.com/office/drawing/2014/main" val="3173161029"/>
                    </a:ext>
                  </a:extLst>
                </a:gridCol>
                <a:gridCol w="716332">
                  <a:extLst>
                    <a:ext uri="{9D8B030D-6E8A-4147-A177-3AD203B41FA5}">
                      <a16:colId xmlns:a16="http://schemas.microsoft.com/office/drawing/2014/main" val="1040323254"/>
                    </a:ext>
                  </a:extLst>
                </a:gridCol>
                <a:gridCol w="716332">
                  <a:extLst>
                    <a:ext uri="{9D8B030D-6E8A-4147-A177-3AD203B41FA5}">
                      <a16:colId xmlns:a16="http://schemas.microsoft.com/office/drawing/2014/main" val="1625410856"/>
                    </a:ext>
                  </a:extLst>
                </a:gridCol>
                <a:gridCol w="716332">
                  <a:extLst>
                    <a:ext uri="{9D8B030D-6E8A-4147-A177-3AD203B41FA5}">
                      <a16:colId xmlns:a16="http://schemas.microsoft.com/office/drawing/2014/main" val="179273873"/>
                    </a:ext>
                  </a:extLst>
                </a:gridCol>
                <a:gridCol w="716332">
                  <a:extLst>
                    <a:ext uri="{9D8B030D-6E8A-4147-A177-3AD203B41FA5}">
                      <a16:colId xmlns:a16="http://schemas.microsoft.com/office/drawing/2014/main" val="2254312243"/>
                    </a:ext>
                  </a:extLst>
                </a:gridCol>
                <a:gridCol w="716332">
                  <a:extLst>
                    <a:ext uri="{9D8B030D-6E8A-4147-A177-3AD203B41FA5}">
                      <a16:colId xmlns:a16="http://schemas.microsoft.com/office/drawing/2014/main" val="2531331100"/>
                    </a:ext>
                  </a:extLst>
                </a:gridCol>
                <a:gridCol w="716332">
                  <a:extLst>
                    <a:ext uri="{9D8B030D-6E8A-4147-A177-3AD203B41FA5}">
                      <a16:colId xmlns:a16="http://schemas.microsoft.com/office/drawing/2014/main" val="2299611305"/>
                    </a:ext>
                  </a:extLst>
                </a:gridCol>
                <a:gridCol w="716332">
                  <a:extLst>
                    <a:ext uri="{9D8B030D-6E8A-4147-A177-3AD203B41FA5}">
                      <a16:colId xmlns:a16="http://schemas.microsoft.com/office/drawing/2014/main" val="1892676376"/>
                    </a:ext>
                  </a:extLst>
                </a:gridCol>
              </a:tblGrid>
              <a:tr h="3730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Actual \ Predicted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Mammal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Bird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Reptile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Fish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Amphib.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Bug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Invert.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740383"/>
                  </a:ext>
                </a:extLst>
              </a:tr>
              <a:tr h="3730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3B6F"/>
                          </a:solidFill>
                        </a:rPr>
                        <a:t>Mammal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F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084758"/>
                  </a:ext>
                </a:extLst>
              </a:tr>
              <a:tr h="3730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3B6F"/>
                          </a:solidFill>
                        </a:rPr>
                        <a:t>Bird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F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053720"/>
                  </a:ext>
                </a:extLst>
              </a:tr>
              <a:tr h="3730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3B6F"/>
                          </a:solidFill>
                        </a:rPr>
                        <a:t>Reptile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F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452870"/>
                  </a:ext>
                </a:extLst>
              </a:tr>
              <a:tr h="3730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3B6F"/>
                          </a:solidFill>
                        </a:rPr>
                        <a:t>Fish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F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076309"/>
                  </a:ext>
                </a:extLst>
              </a:tr>
              <a:tr h="3730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3B6F"/>
                          </a:solidFill>
                        </a:rPr>
                        <a:t>Amphib.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F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240487"/>
                  </a:ext>
                </a:extLst>
              </a:tr>
              <a:tr h="3730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3B6F"/>
                          </a:solidFill>
                        </a:rPr>
                        <a:t>Bug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F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270535"/>
                  </a:ext>
                </a:extLst>
              </a:tr>
              <a:tr h="3730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3B6F"/>
                          </a:solidFill>
                        </a:rPr>
                        <a:t>Invert.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F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90866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F4CB6EC-72D7-4F49-54D6-733090BA19E6}"/>
              </a:ext>
            </a:extLst>
          </p:cNvPr>
          <p:cNvSpPr txBox="1"/>
          <p:nvPr/>
        </p:nvSpPr>
        <p:spPr>
          <a:xfrm>
            <a:off x="762000" y="6362552"/>
            <a:ext cx="97222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Used:</a:t>
            </a:r>
            <a:endParaRPr lang="en-US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3B6F0E-226B-5B14-1599-5D530F63AEED}"/>
              </a:ext>
            </a:extLst>
          </p:cNvPr>
          <p:cNvSpPr txBox="1"/>
          <p:nvPr/>
        </p:nvSpPr>
        <p:spPr>
          <a:xfrm>
            <a:off x="1111623" y="7164676"/>
            <a:ext cx="285077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n_estimators=100, </a:t>
            </a:r>
            <a:r>
              <a:rPr lang="en-US" sz="2000" dirty="0" err="1">
                <a:solidFill>
                  <a:srgbClr val="22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r>
              <a:rPr lang="en-US" sz="2000" dirty="0">
                <a:solidFill>
                  <a:srgbClr val="22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=4, </a:t>
            </a:r>
            <a:r>
              <a:rPr lang="en-US" sz="2000" dirty="0" err="1">
                <a:solidFill>
                  <a:srgbClr val="22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min_samples_split</a:t>
            </a:r>
            <a:r>
              <a:rPr lang="en-US" sz="2000" dirty="0">
                <a:solidFill>
                  <a:srgbClr val="22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=5, </a:t>
            </a:r>
            <a:r>
              <a:rPr lang="en-US" sz="2000" dirty="0" err="1">
                <a:solidFill>
                  <a:srgbClr val="22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min_samples_leaf</a:t>
            </a:r>
            <a:r>
              <a:rPr lang="en-US" sz="2000" dirty="0">
                <a:solidFill>
                  <a:srgbClr val="22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=3, </a:t>
            </a:r>
            <a:r>
              <a:rPr lang="en-US" sz="2000" dirty="0" err="1">
                <a:solidFill>
                  <a:srgbClr val="22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r>
              <a:rPr lang="en-US" sz="2000" dirty="0">
                <a:solidFill>
                  <a:srgbClr val="22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=42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CD7F41-282E-720A-5E9E-34E01CCD9E83}"/>
              </a:ext>
            </a:extLst>
          </p:cNvPr>
          <p:cNvSpPr txBox="1"/>
          <p:nvPr/>
        </p:nvSpPr>
        <p:spPr>
          <a:xfrm>
            <a:off x="5578501" y="7164676"/>
            <a:ext cx="297357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Accuracy:</a:t>
            </a:r>
            <a:r>
              <a:rPr lang="en-IN" dirty="0"/>
              <a:t> 96.77%</a:t>
            </a:r>
          </a:p>
          <a:p>
            <a:r>
              <a:rPr lang="en-IN" b="1" dirty="0"/>
              <a:t>Precision :</a:t>
            </a:r>
            <a:r>
              <a:rPr lang="en-IN" dirty="0"/>
              <a:t> 97% </a:t>
            </a:r>
          </a:p>
          <a:p>
            <a:r>
              <a:rPr lang="en-IN" b="1" dirty="0"/>
              <a:t>Recall :</a:t>
            </a:r>
            <a:r>
              <a:rPr lang="en-IN" dirty="0"/>
              <a:t>97% </a:t>
            </a:r>
          </a:p>
          <a:p>
            <a:r>
              <a:rPr lang="en-IN" b="1" dirty="0"/>
              <a:t>F1-Score :</a:t>
            </a:r>
            <a:r>
              <a:rPr lang="en-IN" dirty="0"/>
              <a:t> 96% </a:t>
            </a:r>
          </a:p>
          <a:p>
            <a:r>
              <a:rPr lang="en-IN" b="1" dirty="0"/>
              <a:t>ROC-AUC Score:</a:t>
            </a:r>
            <a:r>
              <a:rPr lang="en-IN" dirty="0"/>
              <a:t> 99.75% </a:t>
            </a:r>
          </a:p>
          <a:p>
            <a:r>
              <a:rPr lang="en-IN" b="1" dirty="0"/>
              <a:t>Cross-ValidatioAccuracy:</a:t>
            </a:r>
            <a:r>
              <a:rPr lang="en-IN" dirty="0"/>
              <a:t>95% </a:t>
            </a:r>
          </a:p>
          <a:p>
            <a:r>
              <a:rPr lang="en-IN" b="1" dirty="0"/>
              <a:t>Testing Accuracy:</a:t>
            </a:r>
            <a:r>
              <a:rPr lang="en-IN" dirty="0"/>
              <a:t> 96.77%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8CE860-0DC4-6ED2-947B-423E4A97B560}"/>
              </a:ext>
            </a:extLst>
          </p:cNvPr>
          <p:cNvSpPr txBox="1"/>
          <p:nvPr/>
        </p:nvSpPr>
        <p:spPr>
          <a:xfrm>
            <a:off x="5623111" y="6362551"/>
            <a:ext cx="17928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Metrices: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3591FAF-24FB-A54E-DE19-C3BB66AFBCFA}"/>
              </a:ext>
            </a:extLst>
          </p:cNvPr>
          <p:cNvSpPr/>
          <p:nvPr/>
        </p:nvSpPr>
        <p:spPr>
          <a:xfrm>
            <a:off x="5486400" y="6362551"/>
            <a:ext cx="2973571" cy="304889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B4D2ED-9382-3144-5BAA-D7D5518B6FE0}"/>
              </a:ext>
            </a:extLst>
          </p:cNvPr>
          <p:cNvSpPr txBox="1"/>
          <p:nvPr/>
        </p:nvSpPr>
        <p:spPr>
          <a:xfrm>
            <a:off x="914400" y="2388769"/>
            <a:ext cx="2453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Confusion </a:t>
            </a:r>
            <a:r>
              <a:rPr lang="en-IN" sz="2400" b="1" dirty="0" err="1"/>
              <a:t>Matirx</a:t>
            </a:r>
            <a:r>
              <a:rPr lang="en-IN" sz="2400" b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469263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54977" y="-874247"/>
            <a:ext cx="4608036" cy="4161694"/>
          </a:xfrm>
          <a:custGeom>
            <a:avLst/>
            <a:gdLst/>
            <a:ahLst/>
            <a:cxnLst/>
            <a:rect l="l" t="t" r="r" b="b"/>
            <a:pathLst>
              <a:path w="4608036" h="4161694">
                <a:moveTo>
                  <a:pt x="0" y="0"/>
                </a:moveTo>
                <a:lnTo>
                  <a:pt x="4608036" y="0"/>
                </a:lnTo>
                <a:lnTo>
                  <a:pt x="4608036" y="4161694"/>
                </a:lnTo>
                <a:lnTo>
                  <a:pt x="0" y="4161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447800" y="1206600"/>
            <a:ext cx="13860975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092241"/>
                </a:solidFill>
                <a:latin typeface="Archivo Black"/>
                <a:ea typeface="Archivo Black"/>
                <a:cs typeface="Archivo Black"/>
                <a:sym typeface="Archivo Black"/>
              </a:rPr>
              <a:t>Future Scope: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81200" y="3652973"/>
            <a:ext cx="4436550" cy="456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endParaRPr lang="en-US" sz="2799" dirty="0">
              <a:solidFill>
                <a:srgbClr val="09224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632809-8F77-3B33-86EB-79AF942DCF5C}"/>
              </a:ext>
            </a:extLst>
          </p:cNvPr>
          <p:cNvSpPr txBox="1"/>
          <p:nvPr/>
        </p:nvSpPr>
        <p:spPr>
          <a:xfrm>
            <a:off x="1981200" y="3009900"/>
            <a:ext cx="128778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dirty="0"/>
              <a:t>Expand the dataset by including additional animal species and more diverse biological characteristics to improve the model's classification accuracy and robustness.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dirty="0"/>
              <a:t>Integrate image-based animal recognition using computer vision techniques, allowing the system to classify animals directly from photographs.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dirty="0"/>
              <a:t>Develop a web or mobile application that enables users to classify animals anytime and anywhere through an interactive interface.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dirty="0"/>
              <a:t>Deploy the trained model on cloud platforms to provide real-time animal classification services through APIs and online applications.</a:t>
            </a:r>
          </a:p>
        </p:txBody>
      </p:sp>
      <p:sp>
        <p:nvSpPr>
          <p:cNvPr id="24" name="Freeform 2">
            <a:extLst>
              <a:ext uri="{FF2B5EF4-FFF2-40B4-BE49-F238E27FC236}">
                <a16:creationId xmlns:a16="http://schemas.microsoft.com/office/drawing/2014/main" id="{7127D043-19FA-DE35-0722-D709999BBFFB}"/>
              </a:ext>
            </a:extLst>
          </p:cNvPr>
          <p:cNvSpPr/>
          <p:nvPr/>
        </p:nvSpPr>
        <p:spPr>
          <a:xfrm>
            <a:off x="14534627" y="775050"/>
            <a:ext cx="4912836" cy="10277400"/>
          </a:xfrm>
          <a:custGeom>
            <a:avLst/>
            <a:gdLst/>
            <a:ahLst/>
            <a:cxnLst/>
            <a:rect l="l" t="t" r="r" b="b"/>
            <a:pathLst>
              <a:path w="4912836" h="10277400">
                <a:moveTo>
                  <a:pt x="0" y="0"/>
                </a:moveTo>
                <a:lnTo>
                  <a:pt x="4912836" y="0"/>
                </a:lnTo>
                <a:lnTo>
                  <a:pt x="4912836" y="10277400"/>
                </a:lnTo>
                <a:lnTo>
                  <a:pt x="0" y="1027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13EEB2-D0BF-82E9-CEFC-5DCA93E90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9C49FB6-5104-76C2-41AE-339E737914FD}"/>
              </a:ext>
            </a:extLst>
          </p:cNvPr>
          <p:cNvSpPr/>
          <p:nvPr/>
        </p:nvSpPr>
        <p:spPr>
          <a:xfrm>
            <a:off x="15054977" y="-874247"/>
            <a:ext cx="4608036" cy="4161694"/>
          </a:xfrm>
          <a:custGeom>
            <a:avLst/>
            <a:gdLst/>
            <a:ahLst/>
            <a:cxnLst/>
            <a:rect l="l" t="t" r="r" b="b"/>
            <a:pathLst>
              <a:path w="4608036" h="4161694">
                <a:moveTo>
                  <a:pt x="0" y="0"/>
                </a:moveTo>
                <a:lnTo>
                  <a:pt x="4608036" y="0"/>
                </a:lnTo>
                <a:lnTo>
                  <a:pt x="4608036" y="4161694"/>
                </a:lnTo>
                <a:lnTo>
                  <a:pt x="0" y="4161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25632BC-D48C-9C98-87D5-8DAB55864887}"/>
              </a:ext>
            </a:extLst>
          </p:cNvPr>
          <p:cNvSpPr txBox="1"/>
          <p:nvPr/>
        </p:nvSpPr>
        <p:spPr>
          <a:xfrm>
            <a:off x="1981200" y="3652973"/>
            <a:ext cx="4436550" cy="456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endParaRPr lang="en-US" sz="2799" dirty="0">
              <a:solidFill>
                <a:srgbClr val="09224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68C698-759C-5F28-7DD9-28F44B9F553E}"/>
              </a:ext>
            </a:extLst>
          </p:cNvPr>
          <p:cNvSpPr txBox="1"/>
          <p:nvPr/>
        </p:nvSpPr>
        <p:spPr>
          <a:xfrm>
            <a:off x="1981200" y="1028700"/>
            <a:ext cx="11125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/>
              <a:t>Deployment:</a:t>
            </a:r>
          </a:p>
          <a:p>
            <a:endParaRPr lang="en-IN" sz="6000" b="1" dirty="0"/>
          </a:p>
        </p:txBody>
      </p:sp>
      <p:sp>
        <p:nvSpPr>
          <p:cNvPr id="18" name="Freeform 2">
            <a:extLst>
              <a:ext uri="{FF2B5EF4-FFF2-40B4-BE49-F238E27FC236}">
                <a16:creationId xmlns:a16="http://schemas.microsoft.com/office/drawing/2014/main" id="{4DEFA099-2174-1355-9173-9BC1C869C692}"/>
              </a:ext>
            </a:extLst>
          </p:cNvPr>
          <p:cNvSpPr/>
          <p:nvPr/>
        </p:nvSpPr>
        <p:spPr>
          <a:xfrm>
            <a:off x="14478000" y="800100"/>
            <a:ext cx="4912836" cy="10277400"/>
          </a:xfrm>
          <a:custGeom>
            <a:avLst/>
            <a:gdLst/>
            <a:ahLst/>
            <a:cxnLst/>
            <a:rect l="l" t="t" r="r" b="b"/>
            <a:pathLst>
              <a:path w="4912836" h="10277400">
                <a:moveTo>
                  <a:pt x="0" y="0"/>
                </a:moveTo>
                <a:lnTo>
                  <a:pt x="4912836" y="0"/>
                </a:lnTo>
                <a:lnTo>
                  <a:pt x="4912836" y="10277400"/>
                </a:lnTo>
                <a:lnTo>
                  <a:pt x="0" y="1027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A2126F-50AE-9E71-E1B2-99DC91039DB9}"/>
              </a:ext>
            </a:extLst>
          </p:cNvPr>
          <p:cNvSpPr txBox="1"/>
          <p:nvPr/>
        </p:nvSpPr>
        <p:spPr>
          <a:xfrm>
            <a:off x="5943600" y="9402425"/>
            <a:ext cx="9829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>
                <a:hlinkClick r:id="rId5"/>
              </a:rPr>
              <a:t>Animal_Classification</a:t>
            </a:r>
            <a:endParaRPr lang="en-IN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CA4F1F-0ACC-AF6E-1BE2-1624D38B87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7800" y="2382504"/>
            <a:ext cx="5198283" cy="655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F739A9-9BDD-12BE-3F09-E9E206B882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2999" y="2467526"/>
            <a:ext cx="6320051" cy="64681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102466-AA23-EAFF-6C98-32EACFE9696A}"/>
              </a:ext>
            </a:extLst>
          </p:cNvPr>
          <p:cNvSpPr txBox="1"/>
          <p:nvPr/>
        </p:nvSpPr>
        <p:spPr>
          <a:xfrm>
            <a:off x="4724400" y="9463980"/>
            <a:ext cx="1320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Website:</a:t>
            </a:r>
          </a:p>
        </p:txBody>
      </p:sp>
    </p:spTree>
    <p:extLst>
      <p:ext uri="{BB962C8B-B14F-4D97-AF65-F5344CB8AC3E}">
        <p14:creationId xmlns:p14="http://schemas.microsoft.com/office/powerpoint/2010/main" val="1896820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22608" y="9022352"/>
            <a:ext cx="2619592" cy="515500"/>
          </a:xfrm>
          <a:custGeom>
            <a:avLst/>
            <a:gdLst/>
            <a:ahLst/>
            <a:cxnLst/>
            <a:rect l="l" t="t" r="r" b="b"/>
            <a:pathLst>
              <a:path w="2619592" h="515500">
                <a:moveTo>
                  <a:pt x="0" y="0"/>
                </a:moveTo>
                <a:lnTo>
                  <a:pt x="2619592" y="0"/>
                </a:lnTo>
                <a:lnTo>
                  <a:pt x="2619592" y="515500"/>
                </a:lnTo>
                <a:lnTo>
                  <a:pt x="0" y="515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 rot="-8100000">
            <a:off x="15350242" y="7482296"/>
            <a:ext cx="1992344" cy="229952"/>
            <a:chOff x="0" y="0"/>
            <a:chExt cx="2656459" cy="3066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56459" cy="306578"/>
            </a:xfrm>
            <a:custGeom>
              <a:avLst/>
              <a:gdLst/>
              <a:ahLst/>
              <a:cxnLst/>
              <a:rect l="l" t="t" r="r" b="b"/>
              <a:pathLst>
                <a:path w="2656459" h="306578">
                  <a:moveTo>
                    <a:pt x="2656459" y="153289"/>
                  </a:moveTo>
                  <a:cubicBezTo>
                    <a:pt x="2656459" y="68580"/>
                    <a:pt x="2587879" y="0"/>
                    <a:pt x="2503170" y="0"/>
                  </a:cubicBezTo>
                  <a:lnTo>
                    <a:pt x="153289" y="0"/>
                  </a:lnTo>
                  <a:cubicBezTo>
                    <a:pt x="68580" y="0"/>
                    <a:pt x="0" y="68580"/>
                    <a:pt x="0" y="153289"/>
                  </a:cubicBezTo>
                  <a:cubicBezTo>
                    <a:pt x="0" y="237998"/>
                    <a:pt x="68580" y="306578"/>
                    <a:pt x="153289" y="306578"/>
                  </a:cubicBezTo>
                  <a:lnTo>
                    <a:pt x="2503170" y="306578"/>
                  </a:lnTo>
                  <a:cubicBezTo>
                    <a:pt x="2587879" y="306578"/>
                    <a:pt x="2656459" y="237998"/>
                    <a:pt x="2656459" y="153289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Freeform 7"/>
          <p:cNvSpPr/>
          <p:nvPr/>
        </p:nvSpPr>
        <p:spPr>
          <a:xfrm>
            <a:off x="10201996" y="-686342"/>
            <a:ext cx="8086004" cy="10973342"/>
          </a:xfrm>
          <a:custGeom>
            <a:avLst/>
            <a:gdLst/>
            <a:ahLst/>
            <a:cxnLst/>
            <a:rect l="l" t="t" r="r" b="b"/>
            <a:pathLst>
              <a:path w="10981604" h="10950504">
                <a:moveTo>
                  <a:pt x="0" y="0"/>
                </a:moveTo>
                <a:lnTo>
                  <a:pt x="10981604" y="0"/>
                </a:lnTo>
                <a:lnTo>
                  <a:pt x="10981604" y="10950504"/>
                </a:lnTo>
                <a:lnTo>
                  <a:pt x="0" y="10950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B3DC79-4A92-22A4-D2A8-0B1D4EEEAE24}"/>
              </a:ext>
            </a:extLst>
          </p:cNvPr>
          <p:cNvSpPr txBox="1"/>
          <p:nvPr/>
        </p:nvSpPr>
        <p:spPr>
          <a:xfrm>
            <a:off x="1981200" y="1028700"/>
            <a:ext cx="11125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/>
              <a:t>Conclusion:</a:t>
            </a:r>
          </a:p>
          <a:p>
            <a:endParaRPr lang="en-IN" sz="6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BE703B-1845-EE50-3E8A-CB9BA30B42BD}"/>
              </a:ext>
            </a:extLst>
          </p:cNvPr>
          <p:cNvSpPr txBox="1"/>
          <p:nvPr/>
        </p:nvSpPr>
        <p:spPr>
          <a:xfrm>
            <a:off x="1752600" y="2745739"/>
            <a:ext cx="10596282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dirty="0"/>
              <a:t>Successfully developed a machine learning model to classify animals into different classes using their biological characteristics.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dirty="0"/>
              <a:t>Compared multiple algorithms, including Logistic Regression, Decision Tree, KNN, Naive Bayes, SVM, Random Forest, and </a:t>
            </a:r>
            <a:r>
              <a:rPr lang="en-IN" sz="3200" dirty="0" err="1"/>
              <a:t>XGBoost</a:t>
            </a:r>
            <a:r>
              <a:rPr lang="en-IN" sz="3200" dirty="0"/>
              <a:t> to evaluate their performance.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dirty="0"/>
              <a:t> Among all the models, </a:t>
            </a:r>
            <a:r>
              <a:rPr lang="en-IN" sz="3200" b="1" dirty="0"/>
              <a:t>Random Forest</a:t>
            </a:r>
            <a:r>
              <a:rPr lang="en-IN" sz="3200" dirty="0"/>
              <a:t> achieved the best overall performance, providing high accuracy, strong classification results, and reliable predictions.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dirty="0"/>
              <a:t> The project demonstrates that machine learning can effectively automate animal classification, making it useful for educational, biological, and wildlife research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742</Words>
  <Application>Microsoft Office PowerPoint</Application>
  <PresentationFormat>Custom</PresentationFormat>
  <Paragraphs>153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Arimo</vt:lpstr>
      <vt:lpstr>Arial</vt:lpstr>
      <vt:lpstr>Calibri</vt:lpstr>
      <vt:lpstr>Wingdings</vt:lpstr>
      <vt:lpstr>Archivo Black</vt:lpstr>
      <vt:lpstr>Courier New</vt:lpstr>
      <vt:lpstr>Arimo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Business Administration School Center by Slidesgo.pptx</dc:title>
  <dc:creator>ARCHANA PATHEPURAM</dc:creator>
  <cp:lastModifiedBy>ARCHANA PATHEPURAM</cp:lastModifiedBy>
  <cp:revision>2</cp:revision>
  <dcterms:created xsi:type="dcterms:W3CDTF">2006-08-16T00:00:00Z</dcterms:created>
  <dcterms:modified xsi:type="dcterms:W3CDTF">2026-07-08T10:10:37Z</dcterms:modified>
  <dc:identifier>DAHOuokl7RE</dc:identifier>
</cp:coreProperties>
</file>